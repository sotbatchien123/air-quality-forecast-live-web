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5f650ed2714881" /><Relationship Type="http://schemas.openxmlformats.org/officeDocument/2006/relationships/extended-properties" Target="/docProps/app.xml" Id="R7fc1df544a6d4266" /><Relationship Type="http://schemas.openxmlformats.org/officeDocument/2006/relationships/officeDocument" Target="/ppt/presentation.xml" Id="R9778b0b783d64d79" /></Relationships>
</file>

<file path=ppt/presentation.xml><?xml version="1.0" encoding="utf-8"?>
<p:presentation xmlns:p="http://schemas.openxmlformats.org/presentationml/2006/main">
  <p:sldMasterIdLst>
    <p:sldMasterId xmlns:r="http://schemas.openxmlformats.org/officeDocument/2006/relationships" id="2147483648" r:id="R60ba5e8fcd524886"/>
  </p:sldMasterIdLst>
  <p:notesMasterIdLst>
    <p:notesMasterId xmlns:r="http://schemas.openxmlformats.org/officeDocument/2006/relationships" r:id="R346fe3988e4949fa"/>
  </p:notesMasterIdLst>
  <p:sldIdLst>
    <p:sldId xmlns:r="http://schemas.openxmlformats.org/officeDocument/2006/relationships" id="256" r:id="R73628d949af641d8"/>
    <p:sldId xmlns:r="http://schemas.openxmlformats.org/officeDocument/2006/relationships" id="257" r:id="Rff2f57351efd4fa3"/>
    <p:sldId xmlns:r="http://schemas.openxmlformats.org/officeDocument/2006/relationships" id="258" r:id="R55fa5ba3771547ab"/>
    <p:sldId xmlns:r="http://schemas.openxmlformats.org/officeDocument/2006/relationships" id="259" r:id="R3265c90d9f1c45dc"/>
    <p:sldId xmlns:r="http://schemas.openxmlformats.org/officeDocument/2006/relationships" id="260" r:id="R6cc0d59053ed4c7f"/>
    <p:sldId xmlns:r="http://schemas.openxmlformats.org/officeDocument/2006/relationships" id="261" r:id="R76eb9abd74124bf0"/>
    <p:sldId xmlns:r="http://schemas.openxmlformats.org/officeDocument/2006/relationships" id="262" r:id="R58f9f7b6cdb848ea"/>
    <p:sldId xmlns:r="http://schemas.openxmlformats.org/officeDocument/2006/relationships" id="263" r:id="Rd0e95903d4c24e5f"/>
    <p:sldId xmlns:r="http://schemas.openxmlformats.org/officeDocument/2006/relationships" id="264" r:id="R51cc9bc63c1a403b"/>
    <p:sldId xmlns:r="http://schemas.openxmlformats.org/officeDocument/2006/relationships" id="265" r:id="Re4d763962eea4f6c"/>
    <p:sldId xmlns:r="http://schemas.openxmlformats.org/officeDocument/2006/relationships" id="266" r:id="R4023b4ede3e84e6e"/>
    <p:sldId xmlns:r="http://schemas.openxmlformats.org/officeDocument/2006/relationships" id="267" r:id="R186ee3e84be242a6"/>
    <p:sldId xmlns:r="http://schemas.openxmlformats.org/officeDocument/2006/relationships" id="268" r:id="Rcd0450e7bb874ae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2260d268d52d4841" /><Relationship Type="http://schemas.openxmlformats.org/officeDocument/2006/relationships/slideMaster" Target="/ppt/slideMasters/slideMaster1.xml" Id="R60ba5e8fcd524886" /><Relationship Type="http://schemas.openxmlformats.org/officeDocument/2006/relationships/notesMaster" Target="/ppt/notesMasters/notesMaster1.xml" Id="R346fe3988e4949fa" /><Relationship Type="http://schemas.openxmlformats.org/officeDocument/2006/relationships/presProps" Target="/ppt/presProps.xml" Id="R9c9a8142ea554141" /><Relationship Type="http://schemas.openxmlformats.org/officeDocument/2006/relationships/tableStyles" Target="/ppt/tableStyles.xml" Id="R5a9857ed5f5f4a42" /><Relationship Type="http://schemas.openxmlformats.org/officeDocument/2006/relationships/slide" Target="/ppt/slides/slide1.xml" Id="R73628d949af641d8" /><Relationship Type="http://schemas.openxmlformats.org/officeDocument/2006/relationships/slide" Target="/ppt/slides/slide2.xml" Id="Rff2f57351efd4fa3" /><Relationship Type="http://schemas.openxmlformats.org/officeDocument/2006/relationships/slide" Target="/ppt/slides/slide3.xml" Id="R55fa5ba3771547ab" /><Relationship Type="http://schemas.openxmlformats.org/officeDocument/2006/relationships/slide" Target="/ppt/slides/slide4.xml" Id="R3265c90d9f1c45dc" /><Relationship Type="http://schemas.openxmlformats.org/officeDocument/2006/relationships/slide" Target="/ppt/slides/slide5.xml" Id="R6cc0d59053ed4c7f" /><Relationship Type="http://schemas.openxmlformats.org/officeDocument/2006/relationships/slide" Target="/ppt/slides/slide6.xml" Id="R76eb9abd74124bf0" /><Relationship Type="http://schemas.openxmlformats.org/officeDocument/2006/relationships/slide" Target="/ppt/slides/slide7.xml" Id="R58f9f7b6cdb848ea" /><Relationship Type="http://schemas.openxmlformats.org/officeDocument/2006/relationships/slide" Target="/ppt/slides/slide8.xml" Id="Rd0e95903d4c24e5f" /><Relationship Type="http://schemas.openxmlformats.org/officeDocument/2006/relationships/slide" Target="/ppt/slides/slide9.xml" Id="R51cc9bc63c1a403b" /><Relationship Type="http://schemas.openxmlformats.org/officeDocument/2006/relationships/slide" Target="/ppt/slides/slide10.xml" Id="Re4d763962eea4f6c" /><Relationship Type="http://schemas.openxmlformats.org/officeDocument/2006/relationships/slide" Target="/ppt/slides/slide11.xml" Id="R4023b4ede3e84e6e" /><Relationship Type="http://schemas.openxmlformats.org/officeDocument/2006/relationships/slide" Target="/ppt/slides/slide12.xml" Id="R186ee3e84be242a6" /><Relationship Type="http://schemas.openxmlformats.org/officeDocument/2006/relationships/slide" Target="/ppt/slides/slide13.xml" Id="Rcd0450e7bb874a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fe86d6eea04e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e6803961d24798" /><Relationship Type="http://schemas.openxmlformats.org/officeDocument/2006/relationships/notesMaster" Target="/ppt/notesMasters/notesMaster1.xml" Id="Raf4caf972a454a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906b0f30e840f8" /><Relationship Type="http://schemas.openxmlformats.org/officeDocument/2006/relationships/notesMaster" Target="/ppt/notesMasters/notesMaster1.xml" Id="R2b90876b750241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8758f0edf54927" /><Relationship Type="http://schemas.openxmlformats.org/officeDocument/2006/relationships/notesMaster" Target="/ppt/notesMasters/notesMaster1.xml" Id="R28142325639b40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554cffb7ea48a5" /><Relationship Type="http://schemas.openxmlformats.org/officeDocument/2006/relationships/notesMaster" Target="/ppt/notesMasters/notesMaster1.xml" Id="R2e1cc072c7134e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d40be642c64364" /><Relationship Type="http://schemas.openxmlformats.org/officeDocument/2006/relationships/notesMaster" Target="/ppt/notesMasters/notesMaster1.xml" Id="R61a6c3180e0b4d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eddf2f14f141aa" /><Relationship Type="http://schemas.openxmlformats.org/officeDocument/2006/relationships/notesMaster" Target="/ppt/notesMasters/notesMaster1.xml" Id="Rd03f9ecd57a94c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05aefeffa34079" /><Relationship Type="http://schemas.openxmlformats.org/officeDocument/2006/relationships/notesMaster" Target="/ppt/notesMasters/notesMaster1.xml" Id="Rd32a452f057646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a23e16d37346e4" /><Relationship Type="http://schemas.openxmlformats.org/officeDocument/2006/relationships/notesMaster" Target="/ppt/notesMasters/notesMaster1.xml" Id="R3e3bceb07c784f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20e885acf24c05" /><Relationship Type="http://schemas.openxmlformats.org/officeDocument/2006/relationships/notesMaster" Target="/ppt/notesMasters/notesMaster1.xml" Id="Rd2c9f6c53e8f48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595b0da8af4d8a" /><Relationship Type="http://schemas.openxmlformats.org/officeDocument/2006/relationships/notesMaster" Target="/ppt/notesMasters/notesMaster1.xml" Id="Rb48812dee1fe42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58197f2ae74f4e" /><Relationship Type="http://schemas.openxmlformats.org/officeDocument/2006/relationships/notesMaster" Target="/ppt/notesMasters/notesMaster1.xml" Id="R6ea344a7a6e949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134dc6067240dc" /><Relationship Type="http://schemas.openxmlformats.org/officeDocument/2006/relationships/notesMaster" Target="/ppt/notesMasters/notesMaster1.xml" Id="Rb90cf5dea6e84e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176fb1377f442e" /><Relationship Type="http://schemas.openxmlformats.org/officeDocument/2006/relationships/notesMaster" Target="/ppt/notesMasters/notesMaster1.xml" Id="R85fe4236d53e42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Week 6 chỉ tập trung vào model, testing và improving. Bài toán cuối cùng là dự báo current speed, traffic density và US AQI trước một giờ.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vai trò Data Scientist không chỉ là train model. Cần kiểm tra dữ liệu, chọn metric, so sánh baseline, giải thích lỗi và đưa ra next steps có thể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Giải thích rõ thời điểm dự báo. Model được phép dùng weather forecast của giờ kế tiếp, nhưng traffic và AQI chỉ được lấy từ lịch sử đến thời điểm hiện tại để tránh 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Dữ liệu gốc có 569,400 dòng sau merge, tương ứng 65 địa điểm trong 8,760 giờ. Khi tạo lag và rolling window, 780 dòng đầu kỳ bị loại, còn 568,620 mẫu supervised.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nhóm đặc trưng chính là weather, traffic và AQI. Population, green area, location và calendar là context bổ sung; tổng cộng model cuối dùng 123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HGBR và XGBoost next-day là benchmark của giai đoạn trước; đây là bài toán horizon khác nên không so sánh trực tiếp với hourly model. Quyết định 12h→1h dựa trên nhu cầu vận hành live và chất lượng holdout.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shuffle ngẫu nhiên time series. Model fit trên Jan–Oct, chọn số cây bằng November validation, và chỉ báo cáo kết quả cuối trên December untouched holdout.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cả MAE và R². AQI có R² rất cao, nhưng source là CAMS modeled data và horizon chỉ một giờ, nên chưa thể coi là độ chính xác của trạm quan trắc.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Persistence baseline dùng giá trị hiện tại làm dự báo cho giờ kế tiếp. XGBoost giảm MAE 52.1% cho speed, 59.1% cho density và 53.8% cho AQI.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importance theo gain cho thấy lag1 và rolling3 là dominant signals. Weather và calendar vẫn có ích, nhưng tác động nhỏ hơn recent history trong bài toán một giờ ahead.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Retrospective January 2026 của weather-only next-day model cho thấy MAE 16.79 và missed peak tại Cần Giờ. Đây là evidence giải thích vì sao model được thiết kế lại để học cả traffic, AQI và recent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cải thiện chính: đổi thuật toán sang XGBoost, mở rộng multi-source features, và thiết kế cửa sổ 12 giờ để hỗ trợ live inference. Mỗi cải thiện đều gắn với một vấn đề đã quan sát được.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Kết thúc bằng ba nhóm nội dung cho Week 7: evidence, limitations và next experiment. Không chỉ trình bày con số tốt; cần nói rõ phạm vi sử dụng hợp lý của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65b49f5cc44f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a40df64e9e40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e81d5cb1ca4e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cb3a340a5a49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5cc31d6f3e4f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0fc07e260d4eb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de8dcb4792c4dc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bd3fb0a1c744ad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5034eaa3b7f476d" /><Relationship Type="http://schemas.openxmlformats.org/officeDocument/2006/relationships/image" Target="/ppt/media/image.png" Id="R3e601b3f5ad74f6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5c2c9bddb5d4c39" /><Relationship Type="http://schemas.openxmlformats.org/officeDocument/2006/relationships/image" Target="/ppt/media/image2.png" Id="Rdd6d53406bf740fe"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3e601b3f5ad74f6d">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dd6d53406bf740fe">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115e636d744d5d" /><Relationship Type="http://schemas.openxmlformats.org/officeDocument/2006/relationships/slideLayout" Target="/ppt/slideLayouts/slideLayout1.xml" Id="R6877632330e7468c" /><Relationship Type="http://schemas.openxmlformats.org/officeDocument/2006/relationships/slideLayout" Target="/ppt/slideLayouts/slideLayout2.xml" Id="R01605e2b14ef424e" /><Relationship Type="http://schemas.openxmlformats.org/officeDocument/2006/relationships/slideLayout" Target="/ppt/slideLayouts/slideLayout3.xml" Id="R60486ab2f66d4138" /><Relationship Type="http://schemas.openxmlformats.org/officeDocument/2006/relationships/slideLayout" Target="/ppt/slideLayouts/slideLayout4.xml" Id="R44ccb497f89e46a3" /><Relationship Type="http://schemas.openxmlformats.org/officeDocument/2006/relationships/slideLayout" Target="/ppt/slideLayouts/slideLayout5.xml" Id="R97af9c65e34c43f1" /><Relationship Type="http://schemas.openxmlformats.org/officeDocument/2006/relationships/slideLayout" Target="/ppt/slideLayouts/slideLayout6.xml" Id="R15622f3ecf5d48a5" /><Relationship Type="http://schemas.openxmlformats.org/officeDocument/2006/relationships/slideLayout" Target="/ppt/slideLayouts/slideLayout7.xml" Id="Rf546fbb69c054202" /><Relationship Type="http://schemas.openxmlformats.org/officeDocument/2006/relationships/slideLayout" Target="/ppt/slideLayouts/slideLayout8.xml" Id="Re4c644a32f744af8" /><Relationship Type="http://schemas.openxmlformats.org/officeDocument/2006/relationships/slideLayout" Target="/ppt/slideLayouts/slideLayout9.xml" Id="Rac0d70a093cb45b1" /><Relationship Type="http://schemas.openxmlformats.org/officeDocument/2006/relationships/slideLayout" Target="/ppt/slideLayouts/slideLayout10.xml" Id="Rb23262f4fc234bb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77632330e7468c"/>
    <p:sldLayoutId xmlns:r="http://schemas.openxmlformats.org/officeDocument/2006/relationships" id="2147483650" r:id="R01605e2b14ef424e"/>
    <p:sldLayoutId xmlns:r="http://schemas.openxmlformats.org/officeDocument/2006/relationships" id="2147483651" r:id="R60486ab2f66d4138"/>
    <p:sldLayoutId xmlns:r="http://schemas.openxmlformats.org/officeDocument/2006/relationships" id="2147483652" r:id="R44ccb497f89e46a3"/>
    <p:sldLayoutId xmlns:r="http://schemas.openxmlformats.org/officeDocument/2006/relationships" id="2147483653" r:id="R97af9c65e34c43f1"/>
    <p:sldLayoutId xmlns:r="http://schemas.openxmlformats.org/officeDocument/2006/relationships" id="2147483654" r:id="R15622f3ecf5d48a5"/>
    <p:sldLayoutId xmlns:r="http://schemas.openxmlformats.org/officeDocument/2006/relationships" id="2147483655" r:id="Rf546fbb69c054202"/>
    <p:sldLayoutId xmlns:r="http://schemas.openxmlformats.org/officeDocument/2006/relationships" id="2147483656" r:id="Re4c644a32f744af8"/>
    <p:sldLayoutId xmlns:r="http://schemas.openxmlformats.org/officeDocument/2006/relationships" id="2147483657" r:id="Rac0d70a093cb45b1"/>
    <p:sldLayoutId xmlns:r="http://schemas.openxmlformats.org/officeDocument/2006/relationships" id="2147483658" r:id="Rb23262f4fc234bbb"/>
  </p:sldLayoutIdLst>
  <p:hf hdr="0" dt="0"/>
  <p:txStyles>
    <p:titleStyle>
      <a:lvl1pPr xmlns:a="http://schemas.openxmlformats.org/drawingml/2006/main" algn="l">
        <a:lnSpc>
          <a:spcPct val="90000"/>
        </a:lnSpc>
        <a:spcBef>
          <a:spcPts val="0"/>
        </a:spcBef>
        <a:buNone/>
        <a:defRPr sz="29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4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0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18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1eac9a99f743f7" /><Relationship Type="http://schemas.openxmlformats.org/officeDocument/2006/relationships/notesSlide" Target="/ppt/notesSlides/notesSlide1.xml" Id="Rb54a8a4b0a874d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7906bcde8746f1" /><Relationship Type="http://schemas.openxmlformats.org/officeDocument/2006/relationships/notesSlide" Target="/ppt/notesSlides/notesSlide2.xml" Id="R30a06512233e4b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82bbd0e3381e4459" /><Relationship Type="http://schemas.openxmlformats.org/officeDocument/2006/relationships/notesSlide" Target="/ppt/notesSlides/notesSlide3.xml" Id="Rd6b8e766b21f47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bd94751835a45d0" /><Relationship Type="http://schemas.openxmlformats.org/officeDocument/2006/relationships/notesSlide" Target="/ppt/notesSlides/notesSlide4.xml" Id="Rf7db1e8de13740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7a85a23f5e4731" /><Relationship Type="http://schemas.openxmlformats.org/officeDocument/2006/relationships/notesSlide" Target="/ppt/notesSlides/notesSlide5.xml" Id="Ra8d0b64069734f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67b62520f64ca5" /><Relationship Type="http://schemas.openxmlformats.org/officeDocument/2006/relationships/notesSlide" Target="/ppt/notesSlides/notesSlide6.xml" Id="Rff1a2bae65a74b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ca577fd31daf4dcb" /><Relationship Type="http://schemas.openxmlformats.org/officeDocument/2006/relationships/notesSlide" Target="/ppt/notesSlides/notesSlide7.xml" Id="Re46a2e783b0e40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ad3434f5c8a48e0" /><Relationship Type="http://schemas.openxmlformats.org/officeDocument/2006/relationships/notesSlide" Target="/ppt/notesSlides/notesSlide8.xml" Id="R73714bfe735c4d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cff57a84a647d3" /><Relationship Type="http://schemas.openxmlformats.org/officeDocument/2006/relationships/chart" Target="/ppt/slides/charts/chart1.xml" Id="R95a6e8dcca3b406d" /><Relationship Type="http://schemas.openxmlformats.org/officeDocument/2006/relationships/notesSlide" Target="/ppt/notesSlides/notesSlide9.xml" Id="R8ed038c2378345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55ad6298874ef5" /><Relationship Type="http://schemas.openxmlformats.org/officeDocument/2006/relationships/chart" Target="/ppt/slides/charts/chart2.xml" Id="R3c9eb632878842d3" /><Relationship Type="http://schemas.openxmlformats.org/officeDocument/2006/relationships/notesSlide" Target="/ppt/notesSlides/notesSlide10.xml" Id="R954ce61d331345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f26ee4f9d984e75" /><Relationship Type="http://schemas.openxmlformats.org/officeDocument/2006/relationships/notesSlide" Target="/ppt/notesSlides/notesSlide11.xml" Id="Rdf26dab530f649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2dec1cab27d451d" /><Relationship Type="http://schemas.openxmlformats.org/officeDocument/2006/relationships/notesSlide" Target="/ppt/notesSlides/notesSlide12.xml" Id="Ra1512b54f61d4d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241e44ed03914190" /><Relationship Type="http://schemas.openxmlformats.org/officeDocument/2006/relationships/notesSlide" Target="/ppt/notesSlides/notesSlide13.xml" Id="Re9cbe20b4f9e488e" /></Relationships>
</file>

<file path=ppt/slides/charts/chart1.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plotArea>
      <c:layout/>
      <c:barChart>
        <c:barDir val="col"/>
        <c:grouping val="clustered"/>
        <c:varyColors val="0"/>
        <c:ser>
          <c:idx val="0"/>
          <c:order val="0"/>
          <c:tx>
            <c:strRef>
              <c:f>Sheet1!$B$1</c:f>
              <c:strCache>
                <c:ptCount val="1"/>
                <c:pt idx="0">
                  <c:v>Persistence baseline</c:v>
                </c:pt>
              </c:strCache>
            </c:strRef>
          </c:tx>
          <c:spPr>
            <a:solidFill xmlns:a="http://schemas.openxmlformats.org/drawingml/2006/main">
              <a:schemeClr val="accent1"/>
            </a:solidFill>
            <a:ln xmlns:a="http://schemas.openxmlformats.org/drawingml/2006/main">
              <a:noFill/>
            </a:ln>
          </c:spPr>
          <c:dLbls>
            <c:showLegendKey val="0"/>
            <c:showVal val="0"/>
            <c:showCatName val="0"/>
            <c:showSerName val="0"/>
            <c:showPercent val="0"/>
            <c:showBubbleSize val="0"/>
            <c:showLeaderLines val="0"/>
          </c:dLbls>
          <c:cat>
            <c:strRef>
              <c:f>Sheet1!$A$2:$A$5</c:f>
              <c:strCache>
                <c:ptCount val="3"/>
                <c:pt idx="0">
                  <c:v>Speed</c:v>
                </c:pt>
                <c:pt idx="1">
                  <c:v>Density</c:v>
                </c:pt>
                <c:pt idx="2">
                  <c:v>US AQI</c:v>
                </c:pt>
              </c:strCache>
            </c:strRef>
          </c:cat>
          <c:val>
            <c:numRef>
              <c:f>Sheet1!$B$2:$B$5</c:f>
              <c:numCache>
                <c:formatCode>General</c:formatCode>
                <c:ptCount val="3"/>
                <c:pt idx="0">
                  <c:v>100</c:v>
                </c:pt>
                <c:pt idx="1">
                  <c:v>100</c:v>
                </c:pt>
                <c:pt idx="2">
                  <c:v>100</c:v>
                </c:pt>
              </c:numCache>
            </c:numRef>
          </c:val>
        </c:ser>
        <c:ser>
          <c:idx val="1"/>
          <c:order val="1"/>
          <c:tx>
            <c:strRef>
              <c:f>Sheet1!$C$1</c:f>
              <c:strCache>
                <c:ptCount val="1"/>
                <c:pt idx="0">
                  <c:v>XGBoost 12h→1h</c:v>
                </c:pt>
              </c:strCache>
            </c:strRef>
          </c:tx>
          <c:spPr>
            <a:solidFill xmlns:a="http://schemas.openxmlformats.org/drawingml/2006/main">
              <a:schemeClr val="accent2"/>
            </a:solidFill>
            <a:ln xmlns:a="http://schemas.openxmlformats.org/drawingml/2006/main">
              <a:solidFill>
                <a:schemeClr val="tx2">
                  <a:lumMod val="50000"/>
                  <a:lumOff val="50000"/>
                </a:schemeClr>
              </a:solidFill>
            </a:ln>
          </c:spPr>
          <c:dLbls>
            <c:showLegendKey val="0"/>
            <c:showVal val="0"/>
            <c:showCatName val="0"/>
            <c:showSerName val="0"/>
            <c:showPercent val="0"/>
            <c:showBubbleSize val="0"/>
            <c:showLeaderLines val="0"/>
          </c:dLbls>
          <c:cat>
            <c:strRef>
              <c:f>Sheet1!$A$2:$A$5</c:f>
              <c:strCache>
                <c:ptCount val="3"/>
                <c:pt idx="0">
                  <c:v>Speed</c:v>
                </c:pt>
                <c:pt idx="1">
                  <c:v>Density</c:v>
                </c:pt>
                <c:pt idx="2">
                  <c:v>US AQI</c:v>
                </c:pt>
              </c:strCache>
            </c:strRef>
          </c:cat>
          <c:val>
            <c:numRef>
              <c:f>Sheet1!$C$2:$C$5</c:f>
              <c:numCache>
                <c:formatCode>General</c:formatCode>
                <c:ptCount val="3"/>
                <c:pt idx="0">
                  <c:v>47.9</c:v>
                </c:pt>
                <c:pt idx="1">
                  <c:v>40.9</c:v>
                </c:pt>
                <c:pt idx="2">
                  <c:v>46.2</c:v>
                </c:pt>
              </c:numCache>
            </c:numRef>
          </c:val>
        </c:ser>
        <c:dLbls>
          <c:showLegendKey val="0"/>
          <c:showVal val="0"/>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cmpd="sng">
            <a:solidFill>
              <a:schemeClr val="tx1"/>
            </a:solidFill>
          </a:ln>
        </c:spPr>
        <c:txPr>
          <a:bodyPr xmlns:a="http://schemas.openxmlformats.org/drawingml/2006/main" rot="-60000000" vert="horz" anchor="ctr" anchorCtr="1"/>
          <a:lstStyle xmlns:a="http://schemas.openxmlformats.org/drawingml/2006/main"/>
          <a:p xmlns:a="http://schemas.openxmlformats.org/drawingml/2006/main">
            <a:pPr>
              <a:defRPr sz="1100" b="0" i="0" u="none">
                <a:solidFill>
                  <a:schemeClr val="tx1"/>
                </a:solidFill>
                <a:latin typeface="+mn-lt"/>
                <a:ea typeface="+mn-lt"/>
                <a:cs typeface="+mn-lt"/>
              </a:defRPr>
            </a:pPr>
          </a:p>
        </c:txPr>
        <c:crossAx val="48672768"/>
        <c:crosses val="autoZero"/>
        <c:lblAlgn val="ctr"/>
        <c:lblOffset val="100"/>
        <c:noMultiLvlLbl val="0"/>
      </c:catAx>
      <c:valAx>
        <c:axId val="48672768"/>
        <c:scaling>
          <c:orientation val="minMax"/>
          <c:max val="110"/>
        </c:scaling>
        <c:delete val="0"/>
        <c:axPos val="l"/>
        <c:majorGridlines>
          <c:spPr>
            <a:ln xmlns:a="http://schemas.openxmlformats.org/drawingml/2006/main" w="9525" cmpd="sng">
              <a:noFill/>
            </a:ln>
          </c:spPr>
        </c:majorGridlines>
        <c:numFmt formatCode="0"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1100" b="0" i="0" u="none">
                <a:solidFill>
                  <a:schemeClr val="tx1"/>
                </a:solidFill>
                <a:latin typeface="Helvetica Neue Medium"/>
                <a:ea typeface="Helvetica Neue Medium"/>
                <a:cs typeface="Helvetica Neue Medium"/>
              </a:defRPr>
            </a:pPr>
          </a:p>
        </c:txPr>
        <c:crossAx val="48650112"/>
        <c:crosses val="autoZero"/>
        <c:crossBetween val="between"/>
      </c:valAx>
    </c:plotArea>
    <c:legend>
      <c:legendPos val="b"/>
      <c:overlay val="0"/>
      <c:spPr>
        <a:noFill xmlns:a="http://schemas.openxmlformats.org/drawingml/2006/main"/>
      </c:spPr>
      <c:txPr>
        <a:bodyPr xmlns:a="http://schemas.openxmlformats.org/drawingml/2006/main" rot="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legend>
    <c:plotVisOnly val="1"/>
  </c:chart>
  <c:spPr>
    <a:noFill xmlns:a="http://schemas.openxmlformats.org/drawingml/2006/main"/>
    <a:ln xmlns:a="http://schemas.openxmlformats.org/drawingml/2006/main">
      <a:noFill/>
    </a:ln>
  </c:spPr>
</c:chartSpace>
</file>

<file path=ppt/slides/charts/chart2.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plotArea>
      <c:layout/>
      <c:barChart>
        <c:barDir val="col"/>
        <c:grouping val="clustered"/>
        <c:varyColors val="0"/>
        <c:ser>
          <c:idx val="0"/>
          <c:order val="0"/>
          <c:tx>
            <c:strRef>
              <c:f>Sheet1!$B$1</c:f>
              <c:strCache>
                <c:ptCount val="1"/>
                <c:pt idx="0">
                  <c:v>Top signal</c:v>
                </c:pt>
              </c:strCache>
            </c:strRef>
          </c:tx>
          <c:spPr>
            <a:solidFill xmlns:a="http://schemas.openxmlformats.org/drawingml/2006/main">
              <a:schemeClr val="accent1"/>
            </a:solidFill>
            <a:ln xmlns:a="http://schemas.openxmlformats.org/drawingml/2006/main">
              <a:noFill/>
            </a:ln>
          </c:spPr>
          <c:dLbls>
            <c:showLegendKey val="0"/>
            <c:showVal val="0"/>
            <c:showCatName val="0"/>
            <c:showSerName val="0"/>
            <c:showPercent val="0"/>
            <c:showBubbleSize val="0"/>
            <c:showLeaderLines val="0"/>
          </c:dLbls>
          <c:cat>
            <c:strRef>
              <c:f>Sheet1!$A$2:$A$5</c:f>
              <c:strCache>
                <c:ptCount val="3"/>
                <c:pt idx="0">
                  <c:v>Speed</c:v>
                </c:pt>
                <c:pt idx="1">
                  <c:v>Density</c:v>
                </c:pt>
                <c:pt idx="2">
                  <c:v>US AQI</c:v>
                </c:pt>
              </c:strCache>
            </c:strRef>
          </c:cat>
          <c:val>
            <c:numRef>
              <c:f>Sheet1!$B$2:$B$5</c:f>
              <c:numCache>
                <c:formatCode>General</c:formatCode>
                <c:ptCount val="3"/>
                <c:pt idx="0">
                  <c:v>100</c:v>
                </c:pt>
                <c:pt idx="1">
                  <c:v>100</c:v>
                </c:pt>
                <c:pt idx="2">
                  <c:v>100</c:v>
                </c:pt>
              </c:numCache>
            </c:numRef>
          </c:val>
        </c:ser>
        <c:ser>
          <c:idx val="1"/>
          <c:order val="1"/>
          <c:tx>
            <c:strRef>
              <c:f>Sheet1!$C$1</c:f>
              <c:strCache>
                <c:ptCount val="1"/>
                <c:pt idx="0">
                  <c:v>Second signal</c:v>
                </c:pt>
              </c:strCache>
            </c:strRef>
          </c:tx>
          <c:spPr>
            <a:solidFill xmlns:a="http://schemas.openxmlformats.org/drawingml/2006/main">
              <a:schemeClr val="accent2"/>
            </a:solidFill>
            <a:ln xmlns:a="http://schemas.openxmlformats.org/drawingml/2006/main">
              <a:solidFill>
                <a:schemeClr val="tx2">
                  <a:lumMod val="50000"/>
                  <a:lumOff val="50000"/>
                </a:schemeClr>
              </a:solidFill>
            </a:ln>
          </c:spPr>
          <c:dLbls>
            <c:showLegendKey val="0"/>
            <c:showVal val="0"/>
            <c:showCatName val="0"/>
            <c:showSerName val="0"/>
            <c:showPercent val="0"/>
            <c:showBubbleSize val="0"/>
            <c:showLeaderLines val="0"/>
          </c:dLbls>
          <c:cat>
            <c:strRef>
              <c:f>Sheet1!$A$2:$A$5</c:f>
              <c:strCache>
                <c:ptCount val="3"/>
                <c:pt idx="0">
                  <c:v>Speed</c:v>
                </c:pt>
                <c:pt idx="1">
                  <c:v>Density</c:v>
                </c:pt>
                <c:pt idx="2">
                  <c:v>US AQI</c:v>
                </c:pt>
              </c:strCache>
            </c:strRef>
          </c:cat>
          <c:val>
            <c:numRef>
              <c:f>Sheet1!$C$2:$C$5</c:f>
              <c:numCache>
                <c:formatCode>General</c:formatCode>
                <c:ptCount val="3"/>
                <c:pt idx="0">
                  <c:v>12.6</c:v>
                </c:pt>
                <c:pt idx="1">
                  <c:v>79.7</c:v>
                </c:pt>
                <c:pt idx="2">
                  <c:v>94.8</c:v>
                </c:pt>
              </c:numCache>
            </c:numRef>
          </c:val>
        </c:ser>
        <c:dLbls>
          <c:showLegendKey val="0"/>
          <c:showVal val="0"/>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cmpd="sng">
            <a:solidFill>
              <a:schemeClr val="tx1"/>
            </a:solidFill>
          </a:ln>
        </c:spPr>
        <c:txPr>
          <a:bodyPr xmlns:a="http://schemas.openxmlformats.org/drawingml/2006/main" rot="-60000000" vert="horz" anchor="ctr" anchorCtr="1"/>
          <a:lstStyle xmlns:a="http://schemas.openxmlformats.org/drawingml/2006/main"/>
          <a:p xmlns:a="http://schemas.openxmlformats.org/drawingml/2006/main">
            <a:pPr>
              <a:defRPr sz="1100" b="0" i="0" u="none">
                <a:solidFill>
                  <a:schemeClr val="tx1"/>
                </a:solidFill>
                <a:latin typeface="+mn-lt"/>
                <a:ea typeface="+mn-lt"/>
                <a:cs typeface="+mn-lt"/>
              </a:defRPr>
            </a:pPr>
          </a:p>
        </c:txPr>
        <c:crossAx val="48672768"/>
        <c:crosses val="autoZero"/>
        <c:lblAlgn val="ctr"/>
        <c:lblOffset val="100"/>
        <c:noMultiLvlLbl val="0"/>
      </c:catAx>
      <c:valAx>
        <c:axId val="48672768"/>
        <c:scaling>
          <c:orientation val="minMax"/>
          <c:max val="110"/>
        </c:scaling>
        <c:delete val="0"/>
        <c:axPos val="l"/>
        <c:majorGridlines>
          <c:spPr>
            <a:ln xmlns:a="http://schemas.openxmlformats.org/drawingml/2006/main" w="9525" cmpd="sng">
              <a:noFill/>
            </a:ln>
          </c:spPr>
        </c:majorGridlines>
        <c:numFmt formatCode="0"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1100" b="0" i="0" u="none">
                <a:solidFill>
                  <a:schemeClr val="tx1"/>
                </a:solidFill>
                <a:latin typeface="Helvetica Neue Medium"/>
                <a:ea typeface="Helvetica Neue Medium"/>
                <a:cs typeface="Helvetica Neue Medium"/>
              </a:defRPr>
            </a:pPr>
          </a:p>
        </c:txPr>
        <c:crossAx val="48650112"/>
        <c:crosses val="autoZero"/>
        <c:crossBetween val="between"/>
      </c:valAx>
    </c:plotArea>
    <c:legend>
      <c:legendPos val="b"/>
      <c:overlay val="0"/>
      <c:spPr>
        <a:noFill xmlns:a="http://schemas.openxmlformats.org/drawingml/2006/main"/>
      </c:spPr>
      <c:txPr>
        <a:bodyPr xmlns:a="http://schemas.openxmlformats.org/drawingml/2006/main" rot="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legend>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8BFE633A-551A-54B1-5F36-B66CCEBD8D53}"/>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MODEL, TESTING</a:t>
            </a:r>
          </a:p>
          <a:p xmlns:a="http://schemas.openxmlformats.org/drawingml/2006/main">
            <a:r>
              <a:rPr sz="7200"/>
              <a:t>&amp; IMPROVEMENT</a:t>
            </a:r>
          </a:p>
        </p:txBody>
      </p:sp>
      <p:sp>
        <p:nvSpPr>
          <p:cNvPr id="5" name="Subtitle 4">
            <a:extLst xmlns:a="http://schemas.openxmlformats.org/drawingml/2006/main">
              <a:ext uri="{FF2B5EF4-FFF2-40B4-BE49-F238E27FC236}">
                <a16:creationId xmlns:a16="http://schemas.microsoft.com/office/drawing/2014/main" id="{5FD18192-DA46-5723-C973-8A30A162A3C1}"/>
              </a:ext>
            </a:extLst>
          </p:cNvPr>
          <p:cNvSpPr>
            <a:spLocks xmlns:a="http://schemas.openxmlformats.org/drawingml/2006/main" noGrp="1"/>
          </p:cNvSpPr>
          <p:nvPr>
            <p:ph type="subTitle" idx="1"/>
          </p:nvPr>
        </p:nvSpPr>
        <p:spPr>
          <a:xfrm xmlns:a="http://schemas.openxmlformats.org/drawingml/2006/main">
            <a:off x="393700" y="4789429"/>
            <a:ext cx="3568700" cy="1218417"/>
          </a:xfrm>
        </p:spPr>
        <p:txBody>
          <a:bodyPr xmlns:a="http://schemas.openxmlformats.org/drawingml/2006/main">
            <a:noAutofit/>
          </a:bodyPr>
          <a:lstStyle xmlns:a="http://schemas.openxmlformats.org/drawingml/2006/main"/>
          <a:p xmlns:a="http://schemas.openxmlformats.org/drawingml/2006/main">
            <a:r>
              <a:rPr sz="2000"/>
              <a:t>Dự báo traffic + AQI trước 1 giờ</a:t>
            </a:r>
          </a:p>
          <a:p xmlns:a="http://schemas.openxmlformats.org/drawingml/2006/main">
            <a:r>
              <a:rPr sz="2000"/>
              <a:t>5 tỉnh · 65 địa điểm</a:t>
            </a:r>
          </a:p>
          <a:p xmlns:a="http://schemas.openxmlformats.org/drawingml/2006/main">
            <a:r>
              <a:rPr sz="2000"/>
              <a:t>Dữ liệu theo giờ năm 2025</a:t>
            </a:r>
          </a:p>
        </p:txBody>
      </p:sp>
      <p:sp>
        <p:nvSpPr>
          <p:cNvPr id="6" name="Subtitle 4">
            <a:extLst xmlns:a="http://schemas.openxmlformats.org/drawingml/2006/main">
              <a:ext uri="{FF2B5EF4-FFF2-40B4-BE49-F238E27FC236}">
                <a16:creationId xmlns:a16="http://schemas.microsoft.com/office/drawing/2014/main" id="{38267A14-2A60-F4BB-37BE-E21D050F53D8}"/>
              </a:ext>
            </a:extLst>
          </p:cNvPr>
          <p:cNvSpPr>
            <a:spLocks xmlns:a="http://schemas.openxmlformats.org/drawingml/2006/main" noGrp="1"/>
          </p:cNvSpPr>
          <p:nvPr/>
        </p:nvSpPr>
        <p:spPr>
          <a:xfrm xmlns:a="http://schemas.openxmlformats.org/drawingml/2006/main">
            <a:off x="393699" y="392241"/>
            <a:ext cx="3578411"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r>
              <a:rPr sz="1800"/>
              <a:t>WEEK 6</a:t>
            </a:r>
          </a:p>
        </p:txBody>
      </p:sp>
      <p:sp>
        <p:nvSpPr>
          <p:cNvPr id="8" name="Subtitle 4">
            <a:extLst xmlns:a="http://schemas.openxmlformats.org/drawingml/2006/main">
              <a:ext uri="{FF2B5EF4-FFF2-40B4-BE49-F238E27FC236}">
                <a16:creationId xmlns:a16="http://schemas.microsoft.com/office/drawing/2014/main" id="{7A9AD72C-F254-8F77-B9BB-AA0D9A0210D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pPr algn="r">
              <a:buNone/>
            </a:pPr>
            <a:r>
              <a:rPr sz="1800"/>
              <a:t>ML ENGINEER × DATA SCIENTIST</a:t>
            </a:r>
          </a:p>
        </p:txBody>
      </p:sp>
    </p:spTree>
    <p:extLst>
      <p:ext uri="{BB962C8B-B14F-4D97-AF65-F5344CB8AC3E}">
        <p14:creationId xmlns:p14="http://schemas.microsoft.com/office/powerpoint/2010/main" val="5632416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F6A32FBD-471B-0EBA-B741-E0342E72294D}"/>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E2598689-54C9-18A7-3A19-ED76AA08988F}" type="slidenum">
              <a:t>2</a:t>
            </a:fld>
          </a:p>
        </p:txBody>
      </p:sp>
      <p:sp>
        <p:nvSpPr>
          <p:cNvPr id="3" name="Title 2">
            <a:extLst xmlns:a="http://schemas.openxmlformats.org/drawingml/2006/main">
              <a:ext uri="{FF2B5EF4-FFF2-40B4-BE49-F238E27FC236}">
                <a16:creationId xmlns:a16="http://schemas.microsoft.com/office/drawing/2014/main" id="{F6FE9EA6-28D5-24F6-5682-5886DC12588C}"/>
              </a:ext>
            </a:extLst>
          </p:cNvPr>
          <p:cNvSpPr>
            <a:spLocks xmlns:a="http://schemas.openxmlformats.org/drawingml/2006/main" noGrp="1"/>
          </p:cNvSpPr>
          <p:nvPr>
            <p:ph type="title" idx="0"/>
          </p:nvPr>
        </p:nvSpPr>
        <p:spPr>
          <a:xfrm xmlns:a="http://schemas.openxmlformats.org/drawingml/2006/main">
            <a:off x="393700" y="344008"/>
            <a:ext cx="3911600" cy="1047491"/>
          </a:xfrm>
        </p:spPr>
        <p:txBody>
          <a:bodyPr xmlns:a="http://schemas.openxmlformats.org/drawingml/2006/main"/>
          <a:lstStyle xmlns:a="http://schemas.openxmlformats.org/drawingml/2006/main"/>
          <a:p xmlns:a="http://schemas.openxmlformats.org/drawingml/2006/main">
            <a:r>
              <a:t>Week 6: Data Scientist làm gì?</a:t>
            </a:r>
          </a:p>
        </p:txBody>
      </p:sp>
      <p:sp>
        <p:nvSpPr>
          <p:cNvPr id="4" name="Title 2">
            <a:extLst xmlns:a="http://schemas.openxmlformats.org/drawingml/2006/main">
              <a:ext uri="{FF2B5EF4-FFF2-40B4-BE49-F238E27FC236}">
                <a16:creationId xmlns:a16="http://schemas.microsoft.com/office/drawing/2014/main" id="{2F10929B-DEFF-CE26-DEB7-6097A95B3B5C}"/>
              </a:ext>
            </a:extLst>
          </p:cNvPr>
          <p:cNvSpPr>
            <a:spLocks xmlns:a="http://schemas.openxmlformats.org/drawingml/2006/main" noGrp="1"/>
          </p:cNvSpPr>
          <p:nvPr/>
        </p:nvSpPr>
        <p:spPr>
          <a:xfrm xmlns:a="http://schemas.openxmlformats.org/drawingml/2006/main">
            <a:off x="5930900" y="344008"/>
            <a:ext cx="5867400" cy="46597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00000"/>
              </a:lnSpc>
              <a:spcBef>
                <a:spcPts val="0"/>
              </a:spcBef>
              <a:spcAft>
                <a:spcPts val="0"/>
              </a:spcAft>
              <a:buNone/>
              <a:defRPr sz="2900" b="0" i="0" u="none" cap="none">
                <a:solidFill>
                  <a:srgbClr val="000000"/>
                </a:solidFill>
                <a:latin typeface="Helvetica Neue"/>
                <a:ea typeface="Helvetica Neue"/>
                <a:cs typeface="Helvetica Neue"/>
              </a:defRPr>
            </a:lvl1pPr>
            <a:lvl2pPr algn="l">
              <a:lnSpc>
                <a:spcPct val="100000"/>
              </a:lnSpc>
              <a:spcBef>
                <a:spcPts val="0"/>
              </a:spcBef>
              <a:spcAft>
                <a:spcPts val="0"/>
              </a:spcAft>
              <a:buNone/>
              <a:defRPr sz="2900" b="0" i="0" u="none" cap="none">
                <a:solidFill>
                  <a:srgbClr val="000000"/>
                </a:solidFill>
                <a:latin typeface="+mj-lt"/>
                <a:ea typeface="+mj-lt"/>
                <a:cs typeface="+mj-lt"/>
              </a:defRPr>
            </a:lvl2pPr>
            <a:lvl3pPr algn="l">
              <a:lnSpc>
                <a:spcPct val="100000"/>
              </a:lnSpc>
              <a:spcBef>
                <a:spcPts val="0"/>
              </a:spcBef>
              <a:spcAft>
                <a:spcPts val="0"/>
              </a:spcAft>
              <a:buNone/>
              <a:defRPr sz="2900" b="0" i="0" u="none" cap="none">
                <a:solidFill>
                  <a:srgbClr val="000000"/>
                </a:solidFill>
                <a:latin typeface="+mj-lt"/>
                <a:ea typeface="+mj-lt"/>
                <a:cs typeface="+mj-lt"/>
              </a:defRPr>
            </a:lvl3pPr>
            <a:lvl4pPr algn="l">
              <a:lnSpc>
                <a:spcPct val="100000"/>
              </a:lnSpc>
              <a:spcBef>
                <a:spcPts val="0"/>
              </a:spcBef>
              <a:spcAft>
                <a:spcPts val="0"/>
              </a:spcAft>
              <a:buNone/>
              <a:defRPr sz="2900" b="0" i="0" u="none" cap="none">
                <a:solidFill>
                  <a:srgbClr val="000000"/>
                </a:solidFill>
                <a:latin typeface="+mj-lt"/>
                <a:ea typeface="+mj-lt"/>
                <a:cs typeface="+mj-lt"/>
              </a:defRPr>
            </a:lvl4pPr>
            <a:lvl5pPr algn="l">
              <a:lnSpc>
                <a:spcPct val="100000"/>
              </a:lnSpc>
              <a:spcBef>
                <a:spcPts val="0"/>
              </a:spcBef>
              <a:spcAft>
                <a:spcPts val="0"/>
              </a:spcAft>
              <a:buNone/>
              <a:defRPr sz="2900" b="0" i="0" u="none" cap="none">
                <a:solidFill>
                  <a:srgbClr val="000000"/>
                </a:solidFill>
                <a:latin typeface="+mj-lt"/>
                <a:ea typeface="+mj-lt"/>
                <a:cs typeface="+mj-lt"/>
              </a:defRPr>
            </a:lvl5pPr>
            <a:lvl6pPr algn="l">
              <a:lnSpc>
                <a:spcPct val="100000"/>
              </a:lnSpc>
              <a:spcBef>
                <a:spcPts val="0"/>
              </a:spcBef>
              <a:spcAft>
                <a:spcPts val="0"/>
              </a:spcAft>
              <a:buNone/>
              <a:defRPr sz="2900" b="0" i="0" u="none" cap="none">
                <a:solidFill>
                  <a:srgbClr val="000000"/>
                </a:solidFill>
                <a:latin typeface="+mj-lt"/>
                <a:ea typeface="+mj-lt"/>
                <a:cs typeface="+mj-lt"/>
              </a:defRPr>
            </a:lvl6pPr>
            <a:lvl7pPr algn="l">
              <a:lnSpc>
                <a:spcPct val="100000"/>
              </a:lnSpc>
              <a:spcBef>
                <a:spcPts val="0"/>
              </a:spcBef>
              <a:spcAft>
                <a:spcPts val="0"/>
              </a:spcAft>
              <a:buNone/>
              <a:defRPr sz="2900" b="0" i="0" u="none" cap="none">
                <a:solidFill>
                  <a:srgbClr val="000000"/>
                </a:solidFill>
                <a:latin typeface="+mj-lt"/>
                <a:ea typeface="+mj-lt"/>
                <a:cs typeface="+mj-lt"/>
              </a:defRPr>
            </a:lvl7pPr>
            <a:lvl8pPr algn="l">
              <a:lnSpc>
                <a:spcPct val="100000"/>
              </a:lnSpc>
              <a:spcBef>
                <a:spcPts val="0"/>
              </a:spcBef>
              <a:spcAft>
                <a:spcPts val="0"/>
              </a:spcAft>
              <a:buNone/>
              <a:defRPr sz="2900" b="0" i="0" u="none" cap="none">
                <a:solidFill>
                  <a:srgbClr val="000000"/>
                </a:solidFill>
                <a:latin typeface="+mj-lt"/>
                <a:ea typeface="+mj-lt"/>
                <a:cs typeface="+mj-lt"/>
              </a:defRPr>
            </a:lvl8pPr>
            <a:lvl9pPr algn="l">
              <a:lnSpc>
                <a:spcPct val="100000"/>
              </a:lnSpc>
              <a:spcBef>
                <a:spcPts val="0"/>
              </a:spcBef>
              <a:spcAft>
                <a:spcPts val="0"/>
              </a:spcAft>
              <a:buNone/>
              <a:defRPr sz="2900" b="0" i="0" u="none" cap="none">
                <a:solidFill>
                  <a:srgbClr val="000000"/>
                </a:solidFill>
                <a:latin typeface="+mj-lt"/>
                <a:ea typeface="+mj-lt"/>
                <a:cs typeface="+mj-lt"/>
              </a:defRPr>
            </a:lvl9pPr>
          </a:lstStyle>
          <a:p xmlns:a="http://schemas.openxmlformats.org/drawingml/2006/main">
            <a:pPr marL="514350" indent="-514350">
              <a:spcAft>
                <a:spcPts val="600"/>
              </a:spcAft>
              <a:buAutoNum type="arabicPeriod"/>
            </a:pPr>
            <a:r>
              <a:t>Xác định target và tiêu chí thành công</a:t>
            </a:r>
          </a:p>
          <a:p xmlns:a="http://schemas.openxmlformats.org/drawingml/2006/main">
            <a:pPr marL="514350" indent="-514350">
              <a:spcAft>
                <a:spcPts val="600"/>
              </a:spcAft>
              <a:buAutoNum type="arabicPeriod"/>
            </a:pPr>
            <a:r>
              <a:t>Kiểm tra dữ liệu và leakage risk</a:t>
            </a:r>
          </a:p>
          <a:p xmlns:a="http://schemas.openxmlformats.org/drawingml/2006/main">
            <a:pPr marL="514350" indent="-514350">
              <a:spcAft>
                <a:spcPts val="800"/>
              </a:spcAft>
              <a:buAutoNum type="arabicPeriod"/>
            </a:pPr>
            <a:r>
              <a:t>Train, compare các model ứng viên</a:t>
            </a:r>
          </a:p>
          <a:p xmlns:a="http://schemas.openxmlformats.org/drawingml/2006/main">
            <a:pPr marL="514350" indent="-514350">
              <a:spcAft>
                <a:spcPts val="600"/>
              </a:spcAft>
              <a:buAutoNum type="arabicPeriod"/>
            </a:pPr>
            <a:r>
              <a:t>Test theo thời gian và baseline</a:t>
            </a:r>
          </a:p>
          <a:p xmlns:a="http://schemas.openxmlformats.org/drawingml/2006/main">
            <a:pPr marL="514350" indent="-514350">
              <a:spcAft>
                <a:spcPts val="600"/>
              </a:spcAft>
              <a:buAutoNum type="arabicPeriod"/>
            </a:pPr>
            <a:r>
              <a:t>Giải thích error + feature importance</a:t>
            </a:r>
          </a:p>
          <a:p xmlns:a="http://schemas.openxmlformats.org/drawingml/2006/main">
            <a:pPr marL="514350" indent="-514350">
              <a:spcAft>
                <a:spcPts val="600"/>
              </a:spcAft>
              <a:buAutoNum type="arabicPeriod"/>
            </a:pPr>
            <a:r>
              <a:t>Cải thiện model và đề xuất next steps</a:t>
            </a:r>
          </a:p>
        </p:txBody>
      </p:sp>
    </p:spTree>
    <p:extLst>
      <p:ext uri="{BB962C8B-B14F-4D97-AF65-F5344CB8AC3E}">
        <p14:creationId xmlns:p14="http://schemas.microsoft.com/office/powerpoint/2010/main" val="238256327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73983F85-E2E7-5016-FA2B-D1CE29449182}"/>
              </a:ext>
            </a:extLst>
          </p:cNvPr>
          <p:cNvSpPr>
            <a:spLocks xmlns:a="http://schemas.openxmlformats.org/drawingml/2006/main" noGrp="1"/>
          </p:cNvSpPr>
          <p:nvPr>
            <p:ph idx="1"/>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DỰ BÁO 1 GIỜ TIẾP THEO</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Current speed</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Traffic density</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US AQI</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Đơn vị: mỗi địa điểm × mỗi giờ</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202359C0-8A7A-196E-DD58-8E6569619F09}" type="slidenum">
              <a:t>3</a:t>
            </a:fld>
          </a:p>
        </p:txBody>
      </p:sp>
      <p:sp>
        <p:nvSpPr>
          <p:cNvPr id="2" name="Content Placeholder 1">
            <a:extLst xmlns:a="http://schemas.openxmlformats.org/drawingml/2006/main">
              <a:ext uri="{FF2B5EF4-FFF2-40B4-BE49-F238E27FC236}">
                <a16:creationId xmlns:a16="http://schemas.microsoft.com/office/drawing/2014/main" id="{336409A4-E296-79C0-A5A6-B0CD8EB393CA}"/>
              </a:ext>
            </a:extLst>
          </p:cNvPr>
          <p:cNvSpPr>
            <a:spLocks xmlns:a="http://schemas.openxmlformats.org/drawingml/2006/main" noGrp="1"/>
          </p:cNvSpPr>
          <p:nvPr>
            <p:ph idx="10"/>
          </p:nvPr>
        </p:nvSpPr>
        <p:spPr/>
        <p:txBody>
          <a:bodyPr xmlns:a="http://schemas.openxmlformats.org/drawingml/2006/main">
            <a:normAutofit fontScale="100000"/>
          </a:bodyPr>
          <a:lstStyle xmlns:a="http://schemas.openxmlformats.org/drawingml/2006/main"/>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a:ea typeface="Helvetica Neue"/>
                <a:cs typeface="Helvetica Neue"/>
              </a:rPr>
              <a:t>INPUT HỢP LỆ TẠI THỜI ĐIỂM t</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a:ea typeface="Helvetica Neue"/>
                <a:cs typeface="Helvetica Neue"/>
              </a:rPr>
              <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a:ea typeface="Helvetica Neue"/>
                <a:cs typeface="Helvetica Neue"/>
              </a:rPr>
              <a:t>• Weather forecast của giờ t+1</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a:ea typeface="Helvetica Neue"/>
                <a:cs typeface="Helvetica Neue"/>
              </a:rPr>
              <a:t>• Traffic/AQI từ 1–12 giờ trước</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a:ea typeface="Helvetica Neue"/>
                <a:cs typeface="Helvetica Neue"/>
              </a:rPr>
              <a:t>• Population, tree, location, calendar</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a:ea typeface="Helvetica Neue"/>
                <a:cs typeface="Helvetica Neue"/>
              </a:rPr>
              <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a:ea typeface="Helvetica Neue"/>
                <a:cs typeface="Helvetica Neue"/>
              </a:rPr>
              <a:t>Không dùng traffic/AQI của giờ cần dự đoán.</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668" y="344043"/>
            <a:ext cx="9448800" cy="6858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Bài toán &amp; tiêu chí thành công</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EFD6AB9A-5F9E-5F59-51AB-3C8734130965}" type="slidenum">
              <a:t>4</a:t>
            </a:fld>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008"/>
            <a:ext cx="9448800" cy="36691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4800"/>
              <a:t>569,400 dòng đã ghép → 568,620 mẫu supervised</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DATA READINESS</a:t>
            </a:r>
          </a:p>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5 tỉnh · 65 điểm · 8,760 giờ</a:t>
            </a:r>
          </a:p>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Merge theo location + timestamp</a:t>
            </a:r>
          </a:p>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Drop đầu kỳ do lag/rolling</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LEAKAGE GUARDRAILS</a:t>
            </a:r>
          </a:p>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Temporal split, không random shuffle</a:t>
            </a:r>
          </a:p>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No target-hour traffic/AQI</a:t>
            </a:r>
          </a:p>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Baseline = giá trị giờ hiện tại</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None/>
            </a:p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15661830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Rounded Rectangle 3">
            <a:extLst xmlns:a="http://schemas.openxmlformats.org/drawingml/2006/main">
              <a:ext uri="{FF2B5EF4-FFF2-40B4-BE49-F238E27FC236}">
                <a16:creationId xmlns:a16="http://schemas.microsoft.com/office/drawing/2014/main" id="{399D28F4-0533-71C4-6121-D7C1CF725D88}"/>
              </a:ext>
            </a:extLst>
          </p:cNvPr>
          <p:cNvSpPr>
            <a:spLocks xmlns:a="http://schemas.openxmlformats.org/drawingml/2006/main" noGrp="1"/>
          </p:cNvSpPr>
          <p:nvPr/>
        </p:nvSpPr>
        <p:spPr>
          <a:xfrm xmlns:a="http://schemas.openxmlformats.org/drawingml/2006/main">
            <a:off x="5930900" y="393700"/>
            <a:ext cx="5867400" cy="16383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ounded Rectangle 4">
            <a:extLst xmlns:a="http://schemas.openxmlformats.org/drawingml/2006/main">
              <a:ext uri="{FF2B5EF4-FFF2-40B4-BE49-F238E27FC236}">
                <a16:creationId xmlns:a16="http://schemas.microsoft.com/office/drawing/2014/main" id="{3B220E5B-9AD4-0A77-D081-8DD6CEDEDE55}"/>
              </a:ext>
            </a:extLst>
          </p:cNvPr>
          <p:cNvSpPr>
            <a:spLocks xmlns:a="http://schemas.openxmlformats.org/drawingml/2006/main" noGrp="1"/>
          </p:cNvSpPr>
          <p:nvPr/>
        </p:nvSpPr>
        <p:spPr>
          <a:xfrm xmlns:a="http://schemas.openxmlformats.org/drawingml/2006/main">
            <a:off x="5930900" y="2369856"/>
            <a:ext cx="5867400" cy="16383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ounded Rectangle 5">
            <a:extLst xmlns:a="http://schemas.openxmlformats.org/drawingml/2006/main">
              <a:ext uri="{FF2B5EF4-FFF2-40B4-BE49-F238E27FC236}">
                <a16:creationId xmlns:a16="http://schemas.microsoft.com/office/drawing/2014/main" id="{8015B47D-C18B-C33D-B6B9-8B12C7F21DA3}"/>
              </a:ext>
            </a:extLst>
          </p:cNvPr>
          <p:cNvSpPr>
            <a:spLocks xmlns:a="http://schemas.openxmlformats.org/drawingml/2006/main" noGrp="1"/>
          </p:cNvSpPr>
          <p:nvPr/>
        </p:nvSpPr>
        <p:spPr>
          <a:xfrm xmlns:a="http://schemas.openxmlformats.org/drawingml/2006/main">
            <a:off x="5930900" y="4356100"/>
            <a:ext cx="5867400" cy="16383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lide Number Placeholder 1">
            <a:extLst xmlns:a="http://schemas.openxmlformats.org/drawingml/2006/main">
              <a:ext uri="{FF2B5EF4-FFF2-40B4-BE49-F238E27FC236}">
                <a16:creationId xmlns:a16="http://schemas.microsoft.com/office/drawing/2014/main" id="{C70AE1A9-6BFA-C8F8-15D8-E0C474C9873F}"/>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EE5B3003-2C54-13C6-9832-7637201064DE}" type="slidenum">
              <a:t>5</a:t>
            </a:fld>
          </a:p>
        </p:txBody>
      </p:sp>
      <p:sp>
        <p:nvSpPr>
          <p:cNvPr id="3" name="Title 2">
            <a:extLst xmlns:a="http://schemas.openxmlformats.org/drawingml/2006/main">
              <a:ext uri="{FF2B5EF4-FFF2-40B4-BE49-F238E27FC236}">
                <a16:creationId xmlns:a16="http://schemas.microsoft.com/office/drawing/2014/main" id="{B98E6F4A-D901-EDDD-8055-85C5D5B5077A}"/>
              </a:ext>
            </a:extLst>
          </p:cNvPr>
          <p:cNvSpPr>
            <a:spLocks xmlns:a="http://schemas.openxmlformats.org/drawingml/2006/main" noGrp="1"/>
          </p:cNvSpPr>
          <p:nvPr>
            <p:ph type="title" idx="0"/>
          </p:nvPr>
        </p:nvSpPr>
        <p:spPr>
          <a:xfrm xmlns:a="http://schemas.openxmlformats.org/drawingml/2006/main">
            <a:off x="393701" y="344008"/>
            <a:ext cx="4928108" cy="1047491"/>
          </a:xfrm>
        </p:spPr>
        <p:txBody>
          <a:bodyPr xmlns:a="http://schemas.openxmlformats.org/drawingml/2006/main"/>
          <a:lstStyle xmlns:a="http://schemas.openxmlformats.org/drawingml/2006/main"/>
          <a:p xmlns:a="http://schemas.openxmlformats.org/drawingml/2006/main">
            <a:r>
              <a:t>Feature engineering: học cả 3 nguồn</a:t>
            </a:r>
          </a:p>
        </p:txBody>
      </p:sp>
      <p:sp>
        <p:nvSpPr>
          <p:cNvPr id="11" name="Content Placeholder 10">
            <a:extLst xmlns:a="http://schemas.openxmlformats.org/drawingml/2006/main">
              <a:ext uri="{FF2B5EF4-FFF2-40B4-BE49-F238E27FC236}">
                <a16:creationId xmlns:a16="http://schemas.microsoft.com/office/drawing/2014/main" id="{32851832-A61E-C0E6-B2C4-DAC1BEA62DF8}"/>
              </a:ext>
            </a:extLst>
          </p:cNvPr>
          <p:cNvSpPr>
            <a:spLocks xmlns:a="http://schemas.openxmlformats.org/drawingml/2006/main" noGrp="1"/>
          </p:cNvSpPr>
          <p:nvPr>
            <p:ph idx="4294967295"/>
          </p:nvPr>
        </p:nvSpPr>
        <p:spPr>
          <a:xfrm xmlns:a="http://schemas.openxmlformats.org/drawingml/2006/main">
            <a:off x="6261100" y="672952"/>
            <a:ext cx="5287433" cy="1079796"/>
          </a:xfrm>
        </p:spPr>
        <p:txBody>
          <a:bodyPr xmlns:a="http://schemas.openxmlformats.org/drawingml/2006/main">
            <a:normAutofit fontScale="57980"/>
          </a:bodyPr>
          <a:lstStyle xmlns:a="http://schemas.openxmlformats.org/drawingml/2006/main"/>
          <a:p xmlns:a="http://schemas.openxmlformats.org/drawingml/2006/main">
            <a:pPr marL="0" indent="0" algn="l">
              <a:lnSpc>
                <a:spcPct val="110000"/>
              </a:lnSpc>
              <a:spcBef>
                <a:spcPts val="0"/>
              </a:spcBef>
              <a:spcAft>
                <a:spcPts val="0"/>
              </a:spcAft>
              <a:buNone/>
            </a:pPr>
            <a:r>
              <a:rPr sz="1800" b="0" i="0" u="none" cap="none">
                <a:ln>
                  <a:noFill/>
                </a:ln>
                <a:solidFill>
                  <a:prstClr val="black"/>
                </a:solidFill>
                <a:latin typeface="Helvetica Neue"/>
                <a:ea typeface="Helvetica Neue"/>
                <a:cs typeface="Helvetica Neue"/>
              </a:rPr>
              <a:t>WEATHER</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Target-hour forecast</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Lag 1/2/3/6/12h</a:t>
            </a:r>
          </a:p>
        </p:txBody>
      </p:sp>
      <p:sp>
        <p:nvSpPr>
          <p:cNvPr id="8" name="Content Placeholder 10">
            <a:extLst xmlns:a="http://schemas.openxmlformats.org/drawingml/2006/main">
              <a:ext uri="{FF2B5EF4-FFF2-40B4-BE49-F238E27FC236}">
                <a16:creationId xmlns:a16="http://schemas.microsoft.com/office/drawing/2014/main" id="{81492ACB-99F1-D37C-A4AB-B658921013CF}"/>
              </a:ext>
            </a:extLst>
          </p:cNvPr>
          <p:cNvSpPr>
            <a:spLocks xmlns:a="http://schemas.openxmlformats.org/drawingml/2006/main" noGrp="1"/>
          </p:cNvSpPr>
          <p:nvPr/>
        </p:nvSpPr>
        <p:spPr>
          <a:xfrm xmlns:a="http://schemas.openxmlformats.org/drawingml/2006/main">
            <a:off x="6261100" y="2664788"/>
            <a:ext cx="5287433" cy="1048436"/>
          </a:xfrm>
          <a:prstGeom xmlns:a="http://schemas.openxmlformats.org/drawingml/2006/main" prst="rect">
            <a:avLst/>
          </a:prstGeom>
        </p:spPr>
        <p:txBody>
          <a:bodyPr xmlns:a="http://schemas.openxmlformats.org/drawingml/2006/main" vert="horz" lIns="0" tIns="0" rIns="0" bIns="0">
            <a:normAutofit fontScale="65045"/>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800">
                <a:solidFill>
                  <a:prstClr val="black"/>
                </a:solidFill>
                <a:latin typeface="Helvetica Neue"/>
                <a:ea typeface="Helvetica Neue"/>
                <a:cs typeface="Helvetica Neue"/>
              </a:rPr>
              <a:t>TRAFFIC</a:t>
            </a:r>
          </a:p>
          <a:p xmlns:a="http://schemas.openxmlformats.org/drawingml/2006/main">
            <a:pPr marL="0" indent="0">
              <a:lnSpc>
                <a:spcPct val="100000"/>
              </a:lnSpc>
              <a:spcBef>
                <a:spcPts val="1300"/>
              </a:spcBef>
              <a:spcAft>
                <a:spcPts val="1300"/>
              </a:spcAft>
              <a:buNone/>
            </a:pPr>
            <a:r>
              <a:rPr sz="1800">
                <a:solidFill>
                  <a:prstClr val="black"/>
                </a:solidFill>
                <a:latin typeface="Helvetica Neue"/>
                <a:ea typeface="Helvetica Neue"/>
                <a:cs typeface="Helvetica Neue"/>
              </a:rPr>
              <a:t>Speed, free-flow, congestion, density</a:t>
            </a:r>
          </a:p>
          <a:p xmlns:a="http://schemas.openxmlformats.org/drawingml/2006/main">
            <a:pPr marL="0" indent="0">
              <a:lnSpc>
                <a:spcPct val="100000"/>
              </a:lnSpc>
              <a:spcBef>
                <a:spcPts val="1300"/>
              </a:spcBef>
              <a:spcAft>
                <a:spcPts val="1300"/>
              </a:spcAft>
              <a:buNone/>
            </a:pPr>
            <a:r>
              <a:rPr sz="1800">
                <a:solidFill>
                  <a:prstClr val="black"/>
                </a:solidFill>
                <a:latin typeface="Helvetica Neue"/>
                <a:ea typeface="Helvetica Neue"/>
                <a:cs typeface="Helvetica Neue"/>
              </a:rPr>
              <a:t>Rolling 3/6/12h</a:t>
            </a:r>
          </a:p>
        </p:txBody>
      </p:sp>
      <p:sp>
        <p:nvSpPr>
          <p:cNvPr id="9" name="Content Placeholder 10">
            <a:extLst xmlns:a="http://schemas.openxmlformats.org/drawingml/2006/main">
              <a:ext uri="{FF2B5EF4-FFF2-40B4-BE49-F238E27FC236}">
                <a16:creationId xmlns:a16="http://schemas.microsoft.com/office/drawing/2014/main" id="{EE244A58-AA3E-6549-238A-E0B6EB985242}"/>
              </a:ext>
            </a:extLst>
          </p:cNvPr>
          <p:cNvSpPr>
            <a:spLocks xmlns:a="http://schemas.openxmlformats.org/drawingml/2006/main" noGrp="1"/>
          </p:cNvSpPr>
          <p:nvPr/>
        </p:nvSpPr>
        <p:spPr>
          <a:xfrm xmlns:a="http://schemas.openxmlformats.org/drawingml/2006/main">
            <a:off x="6261100" y="4656290"/>
            <a:ext cx="5287433" cy="1037920"/>
          </a:xfrm>
          <a:prstGeom xmlns:a="http://schemas.openxmlformats.org/drawingml/2006/main" prst="rect">
            <a:avLst/>
          </a:prstGeom>
        </p:spPr>
        <p:txBody>
          <a:bodyPr xmlns:a="http://schemas.openxmlformats.org/drawingml/2006/main" vert="horz" lIns="0" tIns="0" rIns="0" bIns="0">
            <a:normAutofit fontScale="63808"/>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800">
                <a:solidFill>
                  <a:prstClr val="black"/>
                </a:solidFill>
                <a:latin typeface="Helvetica Neue"/>
                <a:ea typeface="Helvetica Neue"/>
                <a:cs typeface="Helvetica Neue"/>
              </a:rPr>
              <a:t>AQI + CONTEXT</a:t>
            </a:r>
          </a:p>
          <a:p xmlns:a="http://schemas.openxmlformats.org/drawingml/2006/main">
            <a:pPr marL="0" indent="0">
              <a:lnSpc>
                <a:spcPct val="100000"/>
              </a:lnSpc>
              <a:spcBef>
                <a:spcPts val="1300"/>
              </a:spcBef>
              <a:spcAft>
                <a:spcPts val="1300"/>
              </a:spcAft>
              <a:buNone/>
            </a:pPr>
            <a:r>
              <a:rPr sz="1800">
                <a:solidFill>
                  <a:prstClr val="black"/>
                </a:solidFill>
                <a:latin typeface="Helvetica Neue"/>
                <a:ea typeface="Helvetica Neue"/>
                <a:cs typeface="Helvetica Neue"/>
              </a:rPr>
              <a:t>US AQI, pollutants</a:t>
            </a:r>
          </a:p>
          <a:p xmlns:a="http://schemas.openxmlformats.org/drawingml/2006/main">
            <a:pPr marL="0" indent="0">
              <a:lnSpc>
                <a:spcPct val="100000"/>
              </a:lnSpc>
              <a:spcBef>
                <a:spcPts val="1300"/>
              </a:spcBef>
              <a:spcAft>
                <a:spcPts val="1300"/>
              </a:spcAft>
              <a:buNone/>
            </a:pPr>
            <a:r>
              <a:rPr sz="1800">
                <a:solidFill>
                  <a:prstClr val="black"/>
                </a:solidFill>
                <a:latin typeface="Helvetica Neue"/>
                <a:ea typeface="Helvetica Neue"/>
                <a:cs typeface="Helvetica Neue"/>
              </a:rPr>
              <a:t>Population, tree, location, time</a:t>
            </a:r>
          </a:p>
        </p:txBody>
      </p:sp>
    </p:spTree>
    <p:extLst>
      <p:ext uri="{BB962C8B-B14F-4D97-AF65-F5344CB8AC3E}">
        <p14:creationId xmlns:p14="http://schemas.microsoft.com/office/powerpoint/2010/main" val="46562663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CDD464D-3316-879D-91C3-30E54491AD1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C630A04-5A25-9E0C-9436-126091DB86B3}" type="slidenum">
              <a:t>6</a:t>
            </a:fld>
          </a:p>
        </p:txBody>
      </p:sp>
      <p:sp>
        <p:nvSpPr>
          <p:cNvPr id="11" name="Title 10">
            <a:extLst xmlns:a="http://schemas.openxmlformats.org/drawingml/2006/main">
              <a:ext uri="{FF2B5EF4-FFF2-40B4-BE49-F238E27FC236}">
                <a16:creationId xmlns:a16="http://schemas.microsoft.com/office/drawing/2014/main" id="{8D39B68E-326B-DDEB-2069-B8BB0D01F042}"/>
              </a:ext>
            </a:extLst>
          </p:cNvPr>
          <p:cNvSpPr>
            <a:spLocks xmlns:a="http://schemas.openxmlformats.org/drawingml/2006/main" noGrp="1"/>
          </p:cNvSpPr>
          <p:nvPr>
            <p:ph type="title" idx="0"/>
          </p:nvPr>
        </p:nvSpPr>
        <p:spPr>
          <a:xfrm xmlns:a="http://schemas.openxmlformats.org/drawingml/2006/main">
            <a:off x="393700" y="344008"/>
            <a:ext cx="5534180" cy="1047491"/>
          </a:xfrm>
        </p:spPr>
        <p:txBody>
          <a:bodyPr xmlns:a="http://schemas.openxmlformats.org/drawingml/2006/main"/>
          <a:lstStyle xmlns:a="http://schemas.openxmlformats.org/drawingml/2006/main"/>
          <a:p xmlns:a="http://schemas.openxmlformats.org/drawingml/2006/main">
            <a:r>
              <a:t>Model evolution: chọn theo evidence</a:t>
            </a:r>
          </a:p>
        </p:txBody>
      </p:sp>
      <p:sp>
        <p:nvSpPr>
          <p:cNvPr id="3" name="Rounded Rectangle 2">
            <a:extLst xmlns:a="http://schemas.openxmlformats.org/drawingml/2006/main">
              <a:ext uri="{FF2B5EF4-FFF2-40B4-BE49-F238E27FC236}">
                <a16:creationId xmlns:a16="http://schemas.microsoft.com/office/drawing/2014/main" id="{29B30B4D-AB5C-65DB-5658-753508EB3D5D}"/>
              </a:ext>
            </a:extLst>
          </p:cNvPr>
          <p:cNvSpPr>
            <a:spLocks xmlns:a="http://schemas.openxmlformats.org/drawingml/2006/main" noGrp="1"/>
          </p:cNvSpPr>
          <p:nvPr/>
        </p:nvSpPr>
        <p:spPr>
          <a:xfrm xmlns:a="http://schemas.openxmlformats.org/drawingml/2006/main">
            <a:off x="393700" y="2032000"/>
            <a:ext cx="2581975" cy="265654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Rounded Rectangle 1">
            <a:extLst xmlns:a="http://schemas.openxmlformats.org/drawingml/2006/main">
              <a:ext uri="{FF2B5EF4-FFF2-40B4-BE49-F238E27FC236}">
                <a16:creationId xmlns:a16="http://schemas.microsoft.com/office/drawing/2014/main" id="{2F75E60C-F9D7-0EB1-DB87-30BB4B887E89}"/>
              </a:ext>
            </a:extLst>
          </p:cNvPr>
          <p:cNvSpPr>
            <a:spLocks xmlns:a="http://schemas.openxmlformats.org/drawingml/2006/main" noGrp="1"/>
          </p:cNvSpPr>
          <p:nvPr/>
        </p:nvSpPr>
        <p:spPr>
          <a:xfrm xmlns:a="http://schemas.openxmlformats.org/drawingml/2006/main">
            <a:off x="0" y="5385955"/>
            <a:ext cx="12192000" cy="1485900"/>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Content Placeholder 9">
            <a:extLst xmlns:a="http://schemas.openxmlformats.org/drawingml/2006/main">
              <a:ext uri="{FF2B5EF4-FFF2-40B4-BE49-F238E27FC236}">
                <a16:creationId xmlns:a16="http://schemas.microsoft.com/office/drawing/2014/main" id="{48F23094-2741-BF93-9618-593A39D42BD2}"/>
              </a:ext>
            </a:extLst>
          </p:cNvPr>
          <p:cNvSpPr>
            <a:spLocks xmlns:a="http://schemas.openxmlformats.org/drawingml/2006/main" noGrp="1"/>
          </p:cNvSpPr>
          <p:nvPr/>
        </p:nvSpPr>
        <p:spPr>
          <a:xfrm xmlns:a="http://schemas.openxmlformats.org/drawingml/2006/main">
            <a:off x="631052" y="225189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HGBR</a:t>
            </a:r>
          </a:p>
        </p:txBody>
      </p:sp>
      <p:sp>
        <p:nvSpPr>
          <p:cNvPr id="16" name="Content Placeholder 15">
            <a:extLst xmlns:a="http://schemas.openxmlformats.org/drawingml/2006/main">
              <a:ext uri="{FF2B5EF4-FFF2-40B4-BE49-F238E27FC236}">
                <a16:creationId xmlns:a16="http://schemas.microsoft.com/office/drawing/2014/main" id="{D63831D1-6AB6-9FDC-DF3D-910C1C60EA7D}"/>
              </a:ext>
            </a:extLst>
          </p:cNvPr>
          <p:cNvSpPr>
            <a:spLocks xmlns:a="http://schemas.openxmlformats.org/drawingml/2006/main" noGrp="1"/>
          </p:cNvSpPr>
          <p:nvPr>
            <p:ph idx="4294967295"/>
          </p:nvPr>
        </p:nvSpPr>
        <p:spPr>
          <a:xfrm xmlns:a="http://schemas.openxmlformats.org/drawingml/2006/main">
            <a:off x="697670" y="3740150"/>
            <a:ext cx="2066698" cy="61595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Next-day baseline</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AQI R²: 0.423</a:t>
            </a:r>
          </a:p>
        </p:txBody>
      </p:sp>
      <p:sp>
        <p:nvSpPr>
          <p:cNvPr id="34" name="Rounded Rectangle 33">
            <a:extLst xmlns:a="http://schemas.openxmlformats.org/drawingml/2006/main">
              <a:ext uri="{FF2B5EF4-FFF2-40B4-BE49-F238E27FC236}">
                <a16:creationId xmlns:a16="http://schemas.microsoft.com/office/drawing/2014/main" id="{D0C74EF0-61EA-0AD2-19B0-75CAAA4B844A}"/>
              </a:ext>
            </a:extLst>
          </p:cNvPr>
          <p:cNvSpPr>
            <a:spLocks xmlns:a="http://schemas.openxmlformats.org/drawingml/2006/main" noGrp="1"/>
          </p:cNvSpPr>
          <p:nvPr/>
        </p:nvSpPr>
        <p:spPr>
          <a:xfrm xmlns:a="http://schemas.openxmlformats.org/drawingml/2006/main">
            <a:off x="3345905" y="2032000"/>
            <a:ext cx="2581975" cy="265654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Content Placeholder 9">
            <a:extLst xmlns:a="http://schemas.openxmlformats.org/drawingml/2006/main">
              <a:ext uri="{FF2B5EF4-FFF2-40B4-BE49-F238E27FC236}">
                <a16:creationId xmlns:a16="http://schemas.microsoft.com/office/drawing/2014/main" id="{6130B530-1157-40A3-0161-21ADDD16DABF}"/>
              </a:ext>
            </a:extLst>
          </p:cNvPr>
          <p:cNvSpPr>
            <a:spLocks xmlns:a="http://schemas.openxmlformats.org/drawingml/2006/main" noGrp="1"/>
          </p:cNvSpPr>
          <p:nvPr/>
        </p:nvSpPr>
        <p:spPr>
          <a:xfrm xmlns:a="http://schemas.openxmlformats.org/drawingml/2006/main">
            <a:off x="3583257" y="225189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XGB</a:t>
            </a:r>
          </a:p>
        </p:txBody>
      </p:sp>
      <p:sp>
        <p:nvSpPr>
          <p:cNvPr id="36" name="Content Placeholder 15">
            <a:extLst xmlns:a="http://schemas.openxmlformats.org/drawingml/2006/main">
              <a:ext uri="{FF2B5EF4-FFF2-40B4-BE49-F238E27FC236}">
                <a16:creationId xmlns:a16="http://schemas.microsoft.com/office/drawing/2014/main" id="{7DE51176-FC24-C3CB-45B8-8EA48AFAF9E1}"/>
              </a:ext>
            </a:extLst>
          </p:cNvPr>
          <p:cNvSpPr>
            <a:spLocks xmlns:a="http://schemas.openxmlformats.org/drawingml/2006/main" noGrp="1"/>
          </p:cNvSpPr>
          <p:nvPr/>
        </p:nvSpPr>
        <p:spPr>
          <a:xfrm xmlns:a="http://schemas.openxmlformats.org/drawingml/2006/main">
            <a:off x="3649875" y="3740150"/>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Next-day XGBoost</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AQI R²: 0.561</a:t>
            </a:r>
          </a:p>
        </p:txBody>
      </p:sp>
      <p:sp>
        <p:nvSpPr>
          <p:cNvPr id="37" name="Rounded Rectangle 36">
            <a:extLst xmlns:a="http://schemas.openxmlformats.org/drawingml/2006/main">
              <a:ext uri="{FF2B5EF4-FFF2-40B4-BE49-F238E27FC236}">
                <a16:creationId xmlns:a16="http://schemas.microsoft.com/office/drawing/2014/main" id="{B5992B1D-5E0E-664C-375F-216AFC12EAE8}"/>
              </a:ext>
            </a:extLst>
          </p:cNvPr>
          <p:cNvSpPr>
            <a:spLocks xmlns:a="http://schemas.openxmlformats.org/drawingml/2006/main" noGrp="1"/>
          </p:cNvSpPr>
          <p:nvPr/>
        </p:nvSpPr>
        <p:spPr>
          <a:xfrm xmlns:a="http://schemas.openxmlformats.org/drawingml/2006/main">
            <a:off x="6271986" y="2032000"/>
            <a:ext cx="2581975" cy="265654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Content Placeholder 9">
            <a:extLst xmlns:a="http://schemas.openxmlformats.org/drawingml/2006/main">
              <a:ext uri="{FF2B5EF4-FFF2-40B4-BE49-F238E27FC236}">
                <a16:creationId xmlns:a16="http://schemas.microsoft.com/office/drawing/2014/main" id="{54A023A6-B45F-0FFE-0391-DBB435439A7B}"/>
              </a:ext>
            </a:extLst>
          </p:cNvPr>
          <p:cNvSpPr>
            <a:spLocks xmlns:a="http://schemas.openxmlformats.org/drawingml/2006/main" noGrp="1"/>
          </p:cNvSpPr>
          <p:nvPr/>
        </p:nvSpPr>
        <p:spPr>
          <a:xfrm xmlns:a="http://schemas.openxmlformats.org/drawingml/2006/main">
            <a:off x="6509338" y="225189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1H</a:t>
            </a:r>
          </a:p>
        </p:txBody>
      </p:sp>
      <p:sp>
        <p:nvSpPr>
          <p:cNvPr id="39" name="Content Placeholder 15">
            <a:extLst xmlns:a="http://schemas.openxmlformats.org/drawingml/2006/main">
              <a:ext uri="{FF2B5EF4-FFF2-40B4-BE49-F238E27FC236}">
                <a16:creationId xmlns:a16="http://schemas.microsoft.com/office/drawing/2014/main" id="{5E890D67-9D53-7808-5E55-E05F92307EAC}"/>
              </a:ext>
            </a:extLst>
          </p:cNvPr>
          <p:cNvSpPr>
            <a:spLocks xmlns:a="http://schemas.openxmlformats.org/drawingml/2006/main" noGrp="1"/>
          </p:cNvSpPr>
          <p:nvPr/>
        </p:nvSpPr>
        <p:spPr>
          <a:xfrm xmlns:a="http://schemas.openxmlformats.org/drawingml/2006/main">
            <a:off x="6575956" y="3740150"/>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Hourly XGBoost</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AQI R²: 0.998</a:t>
            </a:r>
          </a:p>
        </p:txBody>
      </p:sp>
      <p:sp>
        <p:nvSpPr>
          <p:cNvPr id="40" name="Rounded Rectangle 39">
            <a:extLst xmlns:a="http://schemas.openxmlformats.org/drawingml/2006/main">
              <a:ext uri="{FF2B5EF4-FFF2-40B4-BE49-F238E27FC236}">
                <a16:creationId xmlns:a16="http://schemas.microsoft.com/office/drawing/2014/main" id="{DEE6595D-2709-1F7C-8B9A-47164A9A4EB2}"/>
              </a:ext>
            </a:extLst>
          </p:cNvPr>
          <p:cNvSpPr>
            <a:spLocks xmlns:a="http://schemas.openxmlformats.org/drawingml/2006/main" noGrp="1"/>
          </p:cNvSpPr>
          <p:nvPr/>
        </p:nvSpPr>
        <p:spPr>
          <a:xfrm xmlns:a="http://schemas.openxmlformats.org/drawingml/2006/main">
            <a:off x="9224191" y="2032000"/>
            <a:ext cx="2581975" cy="265654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Content Placeholder 9">
            <a:extLst xmlns:a="http://schemas.openxmlformats.org/drawingml/2006/main">
              <a:ext uri="{FF2B5EF4-FFF2-40B4-BE49-F238E27FC236}">
                <a16:creationId xmlns:a16="http://schemas.microsoft.com/office/drawing/2014/main" id="{0DD8DA38-D646-1FA9-28D4-71AFE0F87ED8}"/>
              </a:ext>
            </a:extLst>
          </p:cNvPr>
          <p:cNvSpPr>
            <a:spLocks xmlns:a="http://schemas.openxmlformats.org/drawingml/2006/main" noGrp="1"/>
          </p:cNvSpPr>
          <p:nvPr/>
        </p:nvSpPr>
        <p:spPr>
          <a:xfrm xmlns:a="http://schemas.openxmlformats.org/drawingml/2006/main">
            <a:off x="9461543" y="225189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12H</a:t>
            </a:r>
          </a:p>
        </p:txBody>
      </p:sp>
      <p:sp>
        <p:nvSpPr>
          <p:cNvPr id="42" name="Content Placeholder 15">
            <a:extLst xmlns:a="http://schemas.openxmlformats.org/drawingml/2006/main">
              <a:ext uri="{FF2B5EF4-FFF2-40B4-BE49-F238E27FC236}">
                <a16:creationId xmlns:a16="http://schemas.microsoft.com/office/drawing/2014/main" id="{5D7CE5C2-7A4C-5B39-AEB6-25510E71F253}"/>
              </a:ext>
            </a:extLst>
          </p:cNvPr>
          <p:cNvSpPr>
            <a:spLocks xmlns:a="http://schemas.openxmlformats.org/drawingml/2006/main" noGrp="1"/>
          </p:cNvSpPr>
          <p:nvPr/>
        </p:nvSpPr>
        <p:spPr>
          <a:xfrm xmlns:a="http://schemas.openxmlformats.org/drawingml/2006/main">
            <a:off x="9528161" y="3740150"/>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Selected context</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123 features</a:t>
            </a:r>
          </a:p>
        </p:txBody>
      </p:sp>
      <p:sp>
        <p:nvSpPr>
          <p:cNvPr id="43" name="Content Placeholder 2">
            <a:extLst xmlns:a="http://schemas.openxmlformats.org/drawingml/2006/main">
              <a:ext uri="{FF2B5EF4-FFF2-40B4-BE49-F238E27FC236}">
                <a16:creationId xmlns:a16="http://schemas.microsoft.com/office/drawing/2014/main" id="{21B19CD8-2634-6048-888D-54374B2A6E19}"/>
              </a:ext>
            </a:extLst>
          </p:cNvPr>
          <p:cNvSpPr>
            <a:spLocks xmlns:a="http://schemas.openxmlformats.org/drawingml/2006/main" noGrp="1"/>
          </p:cNvSpPr>
          <p:nvPr/>
        </p:nvSpPr>
        <p:spPr>
          <a:xfrm xmlns:a="http://schemas.openxmlformats.org/drawingml/2006/main">
            <a:off x="6261100" y="400899"/>
            <a:ext cx="5539873"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Quyết định cuối: XGBRegressor với 12 giờ lịch sử để dự báo 1 giờ tiếp theo. Cửa sổ ngắn hơn giúp giảm warm-up live, trong khi chất lượng traffic vẫn ổn định.</a:t>
            </a:r>
          </a:p>
        </p:txBody>
      </p:sp>
    </p:spTree>
    <p:extLst>
      <p:ext uri="{BB962C8B-B14F-4D97-AF65-F5344CB8AC3E}">
        <p14:creationId xmlns:p14="http://schemas.microsoft.com/office/powerpoint/2010/main" val="413499907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9" name="Rounded Rectangle 18">
            <a:extLst xmlns:a="http://schemas.openxmlformats.org/drawingml/2006/main">
              <a:ext uri="{FF2B5EF4-FFF2-40B4-BE49-F238E27FC236}">
                <a16:creationId xmlns:a16="http://schemas.microsoft.com/office/drawing/2014/main" id="{1D44F7AB-1763-C9DF-D07A-AAEE9DB548AE}"/>
              </a:ext>
            </a:extLst>
          </p:cNvPr>
          <p:cNvSpPr>
            <a:spLocks xmlns:a="http://schemas.openxmlformats.org/drawingml/2006/main" noGrp="1"/>
          </p:cNvSpPr>
          <p:nvPr/>
        </p:nvSpPr>
        <p:spPr>
          <a:xfrm xmlns:a="http://schemas.openxmlformats.org/drawingml/2006/main">
            <a:off x="8233335" y="3022600"/>
            <a:ext cx="2581975" cy="2971800"/>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Content Placeholder 15">
            <a:extLst xmlns:a="http://schemas.openxmlformats.org/drawingml/2006/main">
              <a:ext uri="{FF2B5EF4-FFF2-40B4-BE49-F238E27FC236}">
                <a16:creationId xmlns:a16="http://schemas.microsoft.com/office/drawing/2014/main" id="{DEA69B8B-AC82-5D8D-6DC3-1435E10EFA74}"/>
              </a:ext>
            </a:extLst>
          </p:cNvPr>
          <p:cNvSpPr>
            <a:spLocks xmlns:a="http://schemas.openxmlformats.org/drawingml/2006/main" noGrp="1"/>
          </p:cNvSpPr>
          <p:nvPr/>
        </p:nvSpPr>
        <p:spPr>
          <a:xfrm xmlns:a="http://schemas.openxmlformats.org/drawingml/2006/main">
            <a:off x="8458602" y="3325812"/>
            <a:ext cx="2145400" cy="16779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latin typeface="Helvetica Neue"/>
                <a:ea typeface="Helvetica Neue"/>
                <a:cs typeface="Helvetica Neue"/>
              </a:rPr>
              <a:t>TEST</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48,360 rows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Untouched holdout</a:t>
            </a:r>
          </a:p>
        </p:txBody>
      </p:sp>
      <p:sp>
        <p:nvSpPr>
          <p:cNvPr id="27" name="Text Placeholder 16">
            <a:extLst xmlns:a="http://schemas.openxmlformats.org/drawingml/2006/main">
              <a:ext uri="{FF2B5EF4-FFF2-40B4-BE49-F238E27FC236}">
                <a16:creationId xmlns:a16="http://schemas.microsoft.com/office/drawing/2014/main" id="{B6300F8B-E97D-EE9E-4225-90702D36C4D1}"/>
              </a:ext>
            </a:extLst>
          </p:cNvPr>
          <p:cNvSpPr>
            <a:spLocks xmlns:a="http://schemas.openxmlformats.org/drawingml/2006/main" noGrp="1"/>
          </p:cNvSpPr>
          <p:nvPr/>
        </p:nvSpPr>
        <p:spPr>
          <a:xfrm xmlns:a="http://schemas.openxmlformats.org/drawingml/2006/main">
            <a:off x="8487334" y="5544658"/>
            <a:ext cx="1686860" cy="207014"/>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800">
                <a:solidFill>
                  <a:schemeClr val="tx1"/>
                </a:solidFill>
                <a:latin typeface="+mn-lt"/>
                <a:ea typeface="+mn-lt"/>
                <a:cs typeface="+mn-lt"/>
              </a:defRPr>
            </a:lvl1pPr>
            <a:lvl2pPr marL="685800" indent="-228600" algn="l">
              <a:lnSpc>
                <a:spcPct val="90000"/>
              </a:lnSpc>
              <a:spcBef>
                <a:spcPts val="500"/>
              </a:spcBef>
              <a:buNone/>
              <a:defRPr sz="1800">
                <a:solidFill>
                  <a:schemeClr val="tx1"/>
                </a:solidFill>
                <a:latin typeface="+mn-lt"/>
                <a:ea typeface="+mn-lt"/>
                <a:cs typeface="+mn-lt"/>
              </a:defRPr>
            </a:lvl2pPr>
            <a:lvl3pPr marL="1143000" indent="-228600" algn="l">
              <a:lnSpc>
                <a:spcPct val="90000"/>
              </a:lnSpc>
              <a:spcBef>
                <a:spcPts val="500"/>
              </a:spcBef>
              <a:buNone/>
              <a:defRPr sz="1800">
                <a:solidFill>
                  <a:schemeClr val="tx1"/>
                </a:solidFill>
                <a:latin typeface="+mn-lt"/>
                <a:ea typeface="+mn-lt"/>
                <a:cs typeface="+mn-lt"/>
              </a:defRPr>
            </a:lvl3pPr>
            <a:lvl4pPr marL="1600200" indent="-228600" algn="l">
              <a:lnSpc>
                <a:spcPct val="90000"/>
              </a:lnSpc>
              <a:spcBef>
                <a:spcPts val="500"/>
              </a:spcBef>
              <a:buNone/>
              <a:defRPr sz="1800">
                <a:solidFill>
                  <a:schemeClr val="tx1"/>
                </a:solidFill>
                <a:latin typeface="+mn-lt"/>
                <a:ea typeface="+mn-lt"/>
                <a:cs typeface="+mn-lt"/>
              </a:defRPr>
            </a:lvl4pPr>
            <a:lvl5pPr marL="2057400" indent="-228600" algn="l">
              <a:lnSpc>
                <a:spcPct val="90000"/>
              </a:lnSpc>
              <a:spcBef>
                <a:spcPts val="500"/>
              </a:spcBef>
              <a:buNone/>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solidFill>
                  <a:prstClr val="black"/>
                </a:solidFill>
                <a:latin typeface="Helvetica Neue"/>
                <a:ea typeface="Helvetica Neue"/>
                <a:cs typeface="Helvetica Neue"/>
              </a:rPr>
              <a:t>DEC</a:t>
            </a:r>
          </a:p>
        </p:txBody>
      </p:sp>
      <p:sp>
        <p:nvSpPr>
          <p:cNvPr id="28" name="Google Shape;2261;p159">
            <a:extLst xmlns:a="http://schemas.openxmlformats.org/drawingml/2006/main">
              <a:ext uri="{FF2B5EF4-FFF2-40B4-BE49-F238E27FC236}">
                <a16:creationId xmlns:a16="http://schemas.microsoft.com/office/drawing/2014/main" id="{D866E886-664F-3FB7-D53F-EC59490BDA56}"/>
              </a:ext>
            </a:extLst>
          </p:cNvPr>
          <p:cNvSpPr>
            <a:spLocks xmlns:a="http://schemas.openxmlformats.org/drawingml/2006/main" noGrp="1"/>
          </p:cNvSpPr>
          <p:nvPr/>
        </p:nvSpPr>
        <p:spPr>
          <a:xfrm xmlns:a="http://schemas.openxmlformats.org/drawingml/2006/main">
            <a:off x="8460678"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12" name="Rounded Rectangle 11">
            <a:extLst xmlns:a="http://schemas.openxmlformats.org/drawingml/2006/main">
              <a:ext uri="{FF2B5EF4-FFF2-40B4-BE49-F238E27FC236}">
                <a16:creationId xmlns:a16="http://schemas.microsoft.com/office/drawing/2014/main" id="{9164D62F-0E28-6899-D1A2-846CA2FAA06B}"/>
              </a:ext>
            </a:extLst>
          </p:cNvPr>
          <p:cNvSpPr>
            <a:spLocks xmlns:a="http://schemas.openxmlformats.org/drawingml/2006/main" noGrp="1"/>
          </p:cNvSpPr>
          <p:nvPr/>
        </p:nvSpPr>
        <p:spPr>
          <a:xfrm xmlns:a="http://schemas.openxmlformats.org/drawingml/2006/main">
            <a:off x="4293347" y="3022600"/>
            <a:ext cx="2581975" cy="2971800"/>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Content Placeholder 15">
            <a:extLst xmlns:a="http://schemas.openxmlformats.org/drawingml/2006/main">
              <a:ext uri="{FF2B5EF4-FFF2-40B4-BE49-F238E27FC236}">
                <a16:creationId xmlns:a16="http://schemas.microsoft.com/office/drawing/2014/main" id="{74B5E1C3-F19B-1098-5782-2ABB1D1A91AF}"/>
              </a:ext>
            </a:extLst>
          </p:cNvPr>
          <p:cNvSpPr>
            <a:spLocks xmlns:a="http://schemas.openxmlformats.org/drawingml/2006/main" noGrp="1"/>
          </p:cNvSpPr>
          <p:nvPr/>
        </p:nvSpPr>
        <p:spPr>
          <a:xfrm xmlns:a="http://schemas.openxmlformats.org/drawingml/2006/main">
            <a:off x="4518614" y="3325812"/>
            <a:ext cx="2145400" cy="16779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latin typeface="Helvetica Neue"/>
                <a:ea typeface="Helvetica Neue"/>
                <a:cs typeface="Helvetica Neue"/>
              </a:rPr>
              <a:t>VALIDATE</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46,800 rows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Early stopping</a:t>
            </a:r>
          </a:p>
        </p:txBody>
      </p:sp>
      <p:sp>
        <p:nvSpPr>
          <p:cNvPr id="7" name="Rounded Rectangle 6">
            <a:extLst xmlns:a="http://schemas.openxmlformats.org/drawingml/2006/main">
              <a:ext uri="{FF2B5EF4-FFF2-40B4-BE49-F238E27FC236}">
                <a16:creationId xmlns:a16="http://schemas.microsoft.com/office/drawing/2014/main" id="{0D46C2F3-E047-949F-E426-85D04E8B5696}"/>
              </a:ext>
            </a:extLst>
          </p:cNvPr>
          <p:cNvSpPr>
            <a:spLocks xmlns:a="http://schemas.openxmlformats.org/drawingml/2006/main" noGrp="1"/>
          </p:cNvSpPr>
          <p:nvPr/>
        </p:nvSpPr>
        <p:spPr>
          <a:xfrm xmlns:a="http://schemas.openxmlformats.org/drawingml/2006/main">
            <a:off x="393700" y="3022600"/>
            <a:ext cx="2581975" cy="2971800"/>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Content Placeholder 15">
            <a:extLst xmlns:a="http://schemas.openxmlformats.org/drawingml/2006/main">
              <a:ext uri="{FF2B5EF4-FFF2-40B4-BE49-F238E27FC236}">
                <a16:creationId xmlns:a16="http://schemas.microsoft.com/office/drawing/2014/main" id="{C2D97B83-3C45-E37A-21C3-D5F333EEE61E}"/>
              </a:ext>
            </a:extLst>
          </p:cNvPr>
          <p:cNvSpPr>
            <a:spLocks xmlns:a="http://schemas.openxmlformats.org/drawingml/2006/main" noGrp="1"/>
          </p:cNvSpPr>
          <p:nvPr>
            <p:ph idx="1"/>
          </p:nvPr>
        </p:nvSpPr>
        <p:spPr>
          <a:xfrm xmlns:a="http://schemas.openxmlformats.org/drawingml/2006/main">
            <a:off x="618967" y="5549772"/>
            <a:ext cx="1730533" cy="19290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JAN–OCT</a:t>
            </a:r>
          </a:p>
        </p:txBody>
      </p:sp>
      <p:sp>
        <p:nvSpPr>
          <p:cNvPr id="4" name="Slide Number Placeholder 3">
            <a:extLst xmlns:a="http://schemas.openxmlformats.org/drawingml/2006/main">
              <a:ext uri="{FF2B5EF4-FFF2-40B4-BE49-F238E27FC236}">
                <a16:creationId xmlns:a16="http://schemas.microsoft.com/office/drawing/2014/main" id="{AD63574A-89C7-955F-74B9-B91B30FDEB28}"/>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D3D7D1C8-AE23-AA48-DF65-C742588DBE47}" type="slidenum">
              <a:t>7</a:t>
            </a:fld>
          </a:p>
        </p:txBody>
      </p:sp>
      <p:sp>
        <p:nvSpPr>
          <p:cNvPr id="11" name="Title 10">
            <a:extLst xmlns:a="http://schemas.openxmlformats.org/drawingml/2006/main">
              <a:ext uri="{FF2B5EF4-FFF2-40B4-BE49-F238E27FC236}">
                <a16:creationId xmlns:a16="http://schemas.microsoft.com/office/drawing/2014/main" id="{B8BE5863-55C6-337E-1F38-84416561EDD2}"/>
              </a:ext>
            </a:extLst>
          </p:cNvPr>
          <p:cNvSpPr>
            <a:spLocks xmlns:a="http://schemas.openxmlformats.org/drawingml/2006/main" noGrp="1"/>
          </p:cNvSpPr>
          <p:nvPr>
            <p:ph type="title" idx="0"/>
          </p:nvPr>
        </p:nvSpPr>
        <p:spPr>
          <a:xfrm xmlns:a="http://schemas.openxmlformats.org/drawingml/2006/main">
            <a:off x="393668" y="344043"/>
            <a:ext cx="9448800" cy="685800"/>
          </a:xfrm>
        </p:spPr>
        <p:txBody>
          <a:bodyPr xmlns:a="http://schemas.openxmlformats.org/drawingml/2006/main"/>
          <a:lstStyle xmlns:a="http://schemas.openxmlformats.org/drawingml/2006/main"/>
          <a:p xmlns:a="http://schemas.openxmlformats.org/drawingml/2006/main">
            <a:r>
              <a:t>Testing theo thời gian — tránh leakage</a:t>
            </a:r>
          </a:p>
        </p:txBody>
      </p:sp>
      <p:sp>
        <p:nvSpPr>
          <p:cNvPr id="17" name="Text Placeholder 16">
            <a:extLst xmlns:a="http://schemas.openxmlformats.org/drawingml/2006/main">
              <a:ext uri="{FF2B5EF4-FFF2-40B4-BE49-F238E27FC236}">
                <a16:creationId xmlns:a16="http://schemas.microsoft.com/office/drawing/2014/main" id="{44FE8A3D-53A2-1416-CACF-BD6787D6F073}"/>
              </a:ext>
            </a:extLst>
          </p:cNvPr>
          <p:cNvSpPr>
            <a:spLocks xmlns:a="http://schemas.openxmlformats.org/drawingml/2006/main" noGrp="1"/>
          </p:cNvSpPr>
          <p:nvPr>
            <p:ph type="body" idx="12"/>
          </p:nvPr>
        </p:nvSpPr>
        <p:spPr>
          <a:xfrm xmlns:a="http://schemas.openxmlformats.org/drawingml/2006/main">
            <a:off x="4547346" y="5544658"/>
            <a:ext cx="1686860" cy="207014"/>
          </a:xfrm>
        </p:spPr>
        <p:txBody>
          <a:bodyPr xmlns:a="http://schemas.openxmlformats.org/drawingml/2006/main">
            <a:noAutofit/>
          </a:bodyPr>
          <a:lstStyle xmlns:a="http://schemas.openxmlformats.org/drawingml/2006/main"/>
          <a:p xmlns:a="http://schemas.openxmlformats.org/drawingml/2006/main">
            <a:pPr marL="0" indent="0" algn="l">
              <a:lnSpc>
                <a:spcPct val="114000"/>
              </a:lnSpc>
              <a:spcBef>
                <a:spcPts val="0"/>
              </a:spcBef>
              <a:spcAft>
                <a:spcPts val="800"/>
              </a:spcAft>
              <a:buNone/>
            </a:pPr>
            <a:r>
              <a:rPr sz="1400" u="none" cap="none">
                <a:ln>
                  <a:noFill/>
                </a:ln>
                <a:solidFill>
                  <a:prstClr val="black"/>
                </a:solidFill>
                <a:latin typeface="Helvetica Neue"/>
                <a:ea typeface="Helvetica Neue"/>
                <a:cs typeface="Helvetica Neue"/>
              </a:rPr>
              <a:t>NOV</a:t>
            </a:r>
          </a:p>
        </p:txBody>
      </p:sp>
      <p:cxnSp>
        <p:nvCxnSpPr>
          <p:cNvPr id="52" name="Google Shape;2259;p159"/>
          <p:cNvCxnSpPr>
            <a:stCxn xmlns:a="http://schemas.openxmlformats.org/drawingml/2006/main" id="3" idx="2"/>
          </p:cNvCxnSpPr>
          <p:nvPr/>
        </p:nvCxnSpPr>
        <p:spPr>
          <a:xfrm xmlns:a="http://schemas.openxmlformats.org/drawingml/2006/main">
            <a:off x="618967" y="5341621"/>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C18CA270-D7FF-5F52-A97F-D8D6C3E591F9}"/>
              </a:ext>
            </a:extLst>
          </p:cNvPr>
          <p:cNvSpPr>
            <a:spLocks xmlns:a="http://schemas.openxmlformats.org/drawingml/2006/main" noGrp="1"/>
          </p:cNvSpPr>
          <p:nvPr/>
        </p:nvSpPr>
        <p:spPr>
          <a:xfrm xmlns:a="http://schemas.openxmlformats.org/drawingml/2006/main">
            <a:off x="618967"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5" name="Google Shape;2261;p159">
            <a:extLst xmlns:a="http://schemas.openxmlformats.org/drawingml/2006/main">
              <a:ext uri="{FF2B5EF4-FFF2-40B4-BE49-F238E27FC236}">
                <a16:creationId xmlns:a16="http://schemas.microsoft.com/office/drawing/2014/main" id="{A1A1F5EF-D65E-D2BC-463A-C5FFC2E3DA62}"/>
              </a:ext>
            </a:extLst>
          </p:cNvPr>
          <p:cNvSpPr>
            <a:spLocks xmlns:a="http://schemas.openxmlformats.org/drawingml/2006/main" noGrp="1"/>
          </p:cNvSpPr>
          <p:nvPr/>
        </p:nvSpPr>
        <p:spPr>
          <a:xfrm xmlns:a="http://schemas.openxmlformats.org/drawingml/2006/main">
            <a:off x="452069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lnSpc>
                <a:spcPct val="100000"/>
              </a:lnSpc>
              <a:spcBef>
                <a:spcPts val="0"/>
              </a:spcBef>
              <a:spcAft>
                <a:spcPts val="0"/>
              </a:spcAft>
              <a:buNone/>
            </a:pPr>
          </a:p>
        </p:txBody>
      </p:sp>
      <p:sp>
        <p:nvSpPr>
          <p:cNvPr id="8" name="Content Placeholder 15">
            <a:extLst xmlns:a="http://schemas.openxmlformats.org/drawingml/2006/main">
              <a:ext uri="{FF2B5EF4-FFF2-40B4-BE49-F238E27FC236}">
                <a16:creationId xmlns:a16="http://schemas.microsoft.com/office/drawing/2014/main" id="{E4FBD0D2-0150-2466-E4B2-FBFCAE3E3054}"/>
              </a:ext>
            </a:extLst>
          </p:cNvPr>
          <p:cNvSpPr>
            <a:spLocks xmlns:a="http://schemas.openxmlformats.org/drawingml/2006/main" noGrp="1"/>
          </p:cNvSpPr>
          <p:nvPr/>
        </p:nvSpPr>
        <p:spPr>
          <a:xfrm xmlns:a="http://schemas.openxmlformats.org/drawingml/2006/main">
            <a:off x="618967" y="3325812"/>
            <a:ext cx="2145400" cy="16779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None/>
              <a:defRPr sz="1600">
                <a:solidFill>
                  <a:schemeClr val="tx1"/>
                </a:solidFill>
                <a:latin typeface="+mn-lt"/>
                <a:ea typeface="+mn-lt"/>
                <a:cs typeface="+mn-lt"/>
              </a:defRPr>
            </a:lvl1pPr>
            <a:lvl2pPr marL="685800" indent="-228600" algn="l">
              <a:lnSpc>
                <a:spcPct val="90000"/>
              </a:lnSpc>
              <a:spcBef>
                <a:spcPts val="500"/>
              </a:spcBef>
              <a:buNone/>
              <a:defRPr sz="1600">
                <a:solidFill>
                  <a:schemeClr val="tx1"/>
                </a:solidFill>
                <a:latin typeface="+mn-lt"/>
                <a:ea typeface="+mn-lt"/>
                <a:cs typeface="+mn-lt"/>
              </a:defRPr>
            </a:lvl2pPr>
            <a:lvl3pPr marL="1143000" indent="-228600" algn="l">
              <a:lnSpc>
                <a:spcPct val="90000"/>
              </a:lnSpc>
              <a:spcBef>
                <a:spcPts val="500"/>
              </a:spcBef>
              <a:buNone/>
              <a:defRPr sz="1600">
                <a:solidFill>
                  <a:schemeClr val="tx1"/>
                </a:solidFill>
                <a:latin typeface="+mn-lt"/>
                <a:ea typeface="+mn-lt"/>
                <a:cs typeface="+mn-lt"/>
              </a:defRPr>
            </a:lvl3pPr>
            <a:lvl4pPr marL="1600200" indent="-228600" algn="l">
              <a:lnSpc>
                <a:spcPct val="90000"/>
              </a:lnSpc>
              <a:spcBef>
                <a:spcPts val="500"/>
              </a:spcBef>
              <a:buNone/>
              <a:defRPr sz="1600">
                <a:solidFill>
                  <a:schemeClr val="tx1"/>
                </a:solidFill>
                <a:latin typeface="+mn-lt"/>
                <a:ea typeface="+mn-lt"/>
                <a:cs typeface="+mn-lt"/>
              </a:defRPr>
            </a:lvl4pPr>
            <a:lvl5pPr marL="2057400" indent="-228600" algn="l">
              <a:lnSpc>
                <a:spcPct val="90000"/>
              </a:lnSpc>
              <a:spcBef>
                <a:spcPts val="500"/>
              </a:spcBef>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latin typeface="Helvetica Neue"/>
                <a:ea typeface="Helvetica Neue"/>
                <a:cs typeface="Helvetica Neue"/>
              </a:rPr>
              <a:t>FIT</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473,460 rows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Học pattern</a:t>
            </a:r>
          </a:p>
        </p:txBody>
      </p:sp>
    </p:spTree>
    <p:extLst>
      <p:ext uri="{BB962C8B-B14F-4D97-AF65-F5344CB8AC3E}">
        <p14:creationId xmlns:p14="http://schemas.microsoft.com/office/powerpoint/2010/main" val="6879125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78745C74-45EB-AE28-C330-5C7EA227B3A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BA58DA2A-B818-18A9-29C1-B697728D5BCE}" type="slidenum">
              <a:t>8</a:t>
            </a:fld>
          </a:p>
        </p:txBody>
      </p:sp>
      <p:sp>
        <p:nvSpPr>
          <p:cNvPr id="3" name="Title 2">
            <a:extLst xmlns:a="http://schemas.openxmlformats.org/drawingml/2006/main">
              <a:ext uri="{FF2B5EF4-FFF2-40B4-BE49-F238E27FC236}">
                <a16:creationId xmlns:a16="http://schemas.microsoft.com/office/drawing/2014/main" id="{D03F6A93-D8A5-5E1B-B897-7FC43395C7A7}"/>
              </a:ext>
            </a:extLst>
          </p:cNvPr>
          <p:cNvSpPr>
            <a:spLocks xmlns:a="http://schemas.openxmlformats.org/drawingml/2006/main" noGrp="1"/>
          </p:cNvSpPr>
          <p:nvPr>
            <p:ph type="title" idx="0"/>
          </p:nvPr>
        </p:nvSpPr>
        <p:spPr>
          <a:xfrm xmlns:a="http://schemas.openxmlformats.org/drawingml/2006/main">
            <a:off x="393700" y="344009"/>
            <a:ext cx="7484432" cy="687058"/>
          </a:xfrm>
        </p:spPr>
        <p:txBody>
          <a:bodyPr xmlns:a="http://schemas.openxmlformats.org/drawingml/2006/main"/>
          <a:lstStyle xmlns:a="http://schemas.openxmlformats.org/drawingml/2006/main"/>
          <a:p xmlns:a="http://schemas.openxmlformats.org/drawingml/2006/main">
            <a:r>
              <a:t>Kết quả holdout tháng 12</a:t>
            </a:r>
          </a:p>
        </p:txBody>
      </p:sp>
      <p:sp>
        <p:nvSpPr>
          <p:cNvPr id="6" name="Rounded Rectangle 5">
            <a:extLst xmlns:a="http://schemas.openxmlformats.org/drawingml/2006/main">
              <a:ext uri="{FF2B5EF4-FFF2-40B4-BE49-F238E27FC236}">
                <a16:creationId xmlns:a16="http://schemas.microsoft.com/office/drawing/2014/main" id="{4B8E9A03-4B2C-B18E-82B3-81A4A01C1BFE}"/>
              </a:ext>
            </a:extLst>
          </p:cNvPr>
          <p:cNvSpPr>
            <a:spLocks xmlns:a="http://schemas.openxmlformats.org/drawingml/2006/main" noGrp="1"/>
          </p:cNvSpPr>
          <p:nvPr/>
        </p:nvSpPr>
        <p:spPr>
          <a:xfrm xmlns:a="http://schemas.openxmlformats.org/drawingml/2006/main">
            <a:off x="393700" y="4356100"/>
            <a:ext cx="2334563" cy="1882398"/>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ounded Rectangle 18">
            <a:extLst xmlns:a="http://schemas.openxmlformats.org/drawingml/2006/main">
              <a:ext uri="{FF2B5EF4-FFF2-40B4-BE49-F238E27FC236}">
                <a16:creationId xmlns:a16="http://schemas.microsoft.com/office/drawing/2014/main" id="{BB9C5A0A-A5A1-9670-2D34-4ADE3A987520}"/>
              </a:ext>
            </a:extLst>
          </p:cNvPr>
          <p:cNvSpPr>
            <a:spLocks xmlns:a="http://schemas.openxmlformats.org/drawingml/2006/main" noGrp="1"/>
          </p:cNvSpPr>
          <p:nvPr/>
        </p:nvSpPr>
        <p:spPr>
          <a:xfrm xmlns:a="http://schemas.openxmlformats.org/drawingml/2006/main">
            <a:off x="2968634" y="4356100"/>
            <a:ext cx="2334563" cy="1882398"/>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ounded Rectangle 19">
            <a:extLst xmlns:a="http://schemas.openxmlformats.org/drawingml/2006/main">
              <a:ext uri="{FF2B5EF4-FFF2-40B4-BE49-F238E27FC236}">
                <a16:creationId xmlns:a16="http://schemas.microsoft.com/office/drawing/2014/main" id="{F8B1C048-B419-3AD6-93D8-57A7BA14EF24}"/>
              </a:ext>
            </a:extLst>
          </p:cNvPr>
          <p:cNvSpPr>
            <a:spLocks xmlns:a="http://schemas.openxmlformats.org/drawingml/2006/main" noGrp="1"/>
          </p:cNvSpPr>
          <p:nvPr/>
        </p:nvSpPr>
        <p:spPr>
          <a:xfrm xmlns:a="http://schemas.openxmlformats.org/drawingml/2006/main">
            <a:off x="5543569" y="4356100"/>
            <a:ext cx="2334563" cy="1882398"/>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Footer Placeholder 24">
            <a:extLst xmlns:a="http://schemas.openxmlformats.org/drawingml/2006/main">
              <a:ext uri="{FF2B5EF4-FFF2-40B4-BE49-F238E27FC236}">
                <a16:creationId xmlns:a16="http://schemas.microsoft.com/office/drawing/2014/main" id="{95A1BACE-9FEC-6113-E43D-CADED94947C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sz="1100"/>
              <a:t>Source: December 2025 temporal holdout · 48,360 rows</a:t>
            </a:r>
          </a:p>
        </p:txBody>
      </p:sp>
      <p:sp>
        <p:nvSpPr>
          <p:cNvPr id="28" name="Content Placeholder 2">
            <a:extLst xmlns:a="http://schemas.openxmlformats.org/drawingml/2006/main">
              <a:ext uri="{FF2B5EF4-FFF2-40B4-BE49-F238E27FC236}">
                <a16:creationId xmlns:a16="http://schemas.microsoft.com/office/drawing/2014/main" id="{B3C3191E-B483-A5B1-1BFC-8359BB565493}"/>
              </a:ext>
            </a:extLst>
          </p:cNvPr>
          <p:cNvSpPr>
            <a:spLocks xmlns:a="http://schemas.openxmlformats.org/drawingml/2006/main" noGrp="1"/>
          </p:cNvSpPr>
          <p:nvPr/>
        </p:nvSpPr>
        <p:spPr>
          <a:xfrm xmlns:a="http://schemas.openxmlformats.org/drawingml/2006/main">
            <a:off x="8232273" y="2374900"/>
            <a:ext cx="3568700" cy="3863597"/>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solidFill>
                  <a:prstClr val="black"/>
                </a:solidFill>
                <a:latin typeface="Helvetica Neue Medium"/>
                <a:ea typeface="Helvetica Neue Medium"/>
                <a:cs typeface="Helvetica Neue Medium"/>
              </a:rPr>
              <a:t>ĐỌC KẾT QUẢ</a:t>
            </a:r>
          </a:p>
          <a:p xmlns:a="http://schemas.openxmlformats.org/drawingml/2006/main">
            <a:pPr marL="0" indent="0">
              <a:lnSpc>
                <a:spcPct val="114000"/>
              </a:lnSpc>
              <a:spcBef>
                <a:spcPts val="0"/>
              </a:spcBef>
              <a:spcAft>
                <a:spcPts val="800"/>
              </a:spcAft>
              <a:buNone/>
            </a:pPr>
            <a:r>
              <a:rPr sz="1400">
                <a:solidFill>
                  <a:prstClr val="black"/>
                </a:solidFill>
                <a:latin typeface="Helvetica Neue"/>
                <a:ea typeface="Helvetica Neue"/>
                <a:cs typeface="Helvetica Neue"/>
              </a:rPr>
              <a:t>Traffic phù hợp cho dự báo vận hành theo giờ. AQI rất tốt trên CAMS với horizon 1 giờ.</a:t>
            </a:r>
          </a:p>
          <a:p xmlns:a="http://schemas.openxmlformats.org/drawingml/2006/main">
            <a:pPr marL="0" indent="0">
              <a:lnSpc>
                <a:spcPct val="114000"/>
              </a:lnSpc>
              <a:spcBef>
                <a:spcPts val="0"/>
              </a:spcBef>
              <a:spcAft>
                <a:spcPts val="800"/>
              </a:spcAft>
              <a:buNone/>
            </a:pPr>
            <a:r>
              <a:rPr sz="1400">
                <a:solidFill>
                  <a:prstClr val="black"/>
                </a:solidFill>
                <a:latin typeface="Helvetica Neue"/>
                <a:ea typeface="Helvetica Neue"/>
                <a:cs typeface="Helvetica Neue"/>
              </a:rPr>
              <a:t/>
            </a:r>
          </a:p>
          <a:p xmlns:a="http://schemas.openxmlformats.org/drawingml/2006/main">
            <a:pPr marL="0" indent="0">
              <a:lnSpc>
                <a:spcPct val="114000"/>
              </a:lnSpc>
              <a:spcBef>
                <a:spcPts val="0"/>
              </a:spcBef>
              <a:spcAft>
                <a:spcPts val="800"/>
              </a:spcAft>
              <a:buNone/>
            </a:pPr>
            <a:r>
              <a:rPr sz="1400">
                <a:solidFill>
                  <a:prstClr val="black"/>
                </a:solidFill>
                <a:latin typeface="Helvetica Neue"/>
                <a:ea typeface="Helvetica Neue"/>
                <a:cs typeface="Helvetica Neue"/>
              </a:rPr>
              <a:t>CẢNH BÁO</a:t>
            </a:r>
          </a:p>
          <a:p xmlns:a="http://schemas.openxmlformats.org/drawingml/2006/main">
            <a:pPr marL="0" indent="0">
              <a:lnSpc>
                <a:spcPct val="114000"/>
              </a:lnSpc>
              <a:spcBef>
                <a:spcPts val="0"/>
              </a:spcBef>
              <a:spcAft>
                <a:spcPts val="800"/>
              </a:spcAft>
              <a:buNone/>
            </a:pPr>
            <a:r>
              <a:rPr sz="1400">
                <a:solidFill>
                  <a:prstClr val="black"/>
                </a:solidFill>
                <a:latin typeface="Helvetica Neue"/>
                <a:ea typeface="Helvetica Neue"/>
                <a:cs typeface="Helvetica Neue"/>
              </a:rPr>
              <a:t>R² cao chịu ảnh hưởng bởi tính mượt của modeled AQI; cần validation bằng trạm quan trắc.</a:t>
            </a:r>
          </a:p>
        </p:txBody>
      </p:sp>
      <p:sp>
        <p:nvSpPr>
          <p:cNvPr id="30" name="Content Placeholder 9">
            <a:extLst xmlns:a="http://schemas.openxmlformats.org/drawingml/2006/main">
              <a:ext uri="{FF2B5EF4-FFF2-40B4-BE49-F238E27FC236}">
                <a16:creationId xmlns:a16="http://schemas.microsoft.com/office/drawing/2014/main" id="{A2629DBE-08D2-7E4E-7363-739E24C59768}"/>
              </a:ext>
            </a:extLst>
          </p:cNvPr>
          <p:cNvSpPr>
            <a:spLocks xmlns:a="http://schemas.openxmlformats.org/drawingml/2006/main" noGrp="1"/>
          </p:cNvSpPr>
          <p:nvPr/>
        </p:nvSpPr>
        <p:spPr>
          <a:xfrm xmlns:a="http://schemas.openxmlformats.org/drawingml/2006/main">
            <a:off x="565150" y="456307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0.945</a:t>
            </a:r>
          </a:p>
        </p:txBody>
      </p:sp>
      <p:sp>
        <p:nvSpPr>
          <p:cNvPr id="31" name="Content Placeholder 9">
            <a:extLst xmlns:a="http://schemas.openxmlformats.org/drawingml/2006/main">
              <a:ext uri="{FF2B5EF4-FFF2-40B4-BE49-F238E27FC236}">
                <a16:creationId xmlns:a16="http://schemas.microsoft.com/office/drawing/2014/main" id="{2D533C57-9277-DA71-420A-852FB372D17F}"/>
              </a:ext>
            </a:extLst>
          </p:cNvPr>
          <p:cNvSpPr>
            <a:spLocks xmlns:a="http://schemas.openxmlformats.org/drawingml/2006/main" noGrp="1"/>
          </p:cNvSpPr>
          <p:nvPr/>
        </p:nvSpPr>
        <p:spPr>
          <a:xfrm xmlns:a="http://schemas.openxmlformats.org/drawingml/2006/main">
            <a:off x="656590" y="546682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600">
                <a:solidFill>
                  <a:prstClr val="black"/>
                </a:solidFill>
                <a:latin typeface="Helvetica Neue"/>
                <a:ea typeface="Helvetica Neue"/>
                <a:cs typeface="Helvetica Neue"/>
              </a:rPr>
              <a:t>Density R²</a:t>
            </a:r>
          </a:p>
        </p:txBody>
      </p:sp>
      <p:sp>
        <p:nvSpPr>
          <p:cNvPr id="32" name="Content Placeholder 9">
            <a:extLst xmlns:a="http://schemas.openxmlformats.org/drawingml/2006/main">
              <a:ext uri="{FF2B5EF4-FFF2-40B4-BE49-F238E27FC236}">
                <a16:creationId xmlns:a16="http://schemas.microsoft.com/office/drawing/2014/main" id="{C960D833-F6EA-C5E9-6DE4-D21876FC340D}"/>
              </a:ext>
            </a:extLst>
          </p:cNvPr>
          <p:cNvSpPr>
            <a:spLocks xmlns:a="http://schemas.openxmlformats.org/drawingml/2006/main" noGrp="1"/>
          </p:cNvSpPr>
          <p:nvPr/>
        </p:nvSpPr>
        <p:spPr>
          <a:xfrm xmlns:a="http://schemas.openxmlformats.org/drawingml/2006/main">
            <a:off x="3172795" y="456307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0.796</a:t>
            </a:r>
          </a:p>
        </p:txBody>
      </p:sp>
      <p:sp>
        <p:nvSpPr>
          <p:cNvPr id="33" name="Content Placeholder 9">
            <a:extLst xmlns:a="http://schemas.openxmlformats.org/drawingml/2006/main">
              <a:ext uri="{FF2B5EF4-FFF2-40B4-BE49-F238E27FC236}">
                <a16:creationId xmlns:a16="http://schemas.microsoft.com/office/drawing/2014/main" id="{BF33EEB6-55CD-E6FE-95D2-55A288BCF125}"/>
              </a:ext>
            </a:extLst>
          </p:cNvPr>
          <p:cNvSpPr>
            <a:spLocks xmlns:a="http://schemas.openxmlformats.org/drawingml/2006/main" noGrp="1"/>
          </p:cNvSpPr>
          <p:nvPr/>
        </p:nvSpPr>
        <p:spPr>
          <a:xfrm xmlns:a="http://schemas.openxmlformats.org/drawingml/2006/main">
            <a:off x="3264235" y="546682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600">
                <a:solidFill>
                  <a:prstClr val="black"/>
                </a:solidFill>
                <a:latin typeface="Helvetica Neue"/>
                <a:ea typeface="Helvetica Neue"/>
                <a:cs typeface="Helvetica Neue"/>
              </a:rPr>
              <a:t>US AQI MAE</a:t>
            </a:r>
          </a:p>
        </p:txBody>
      </p:sp>
      <p:sp>
        <p:nvSpPr>
          <p:cNvPr id="35" name="Content Placeholder 9">
            <a:extLst xmlns:a="http://schemas.openxmlformats.org/drawingml/2006/main">
              <a:ext uri="{FF2B5EF4-FFF2-40B4-BE49-F238E27FC236}">
                <a16:creationId xmlns:a16="http://schemas.microsoft.com/office/drawing/2014/main" id="{6ABC2165-3103-0F8C-58B6-34BB68635572}"/>
              </a:ext>
            </a:extLst>
          </p:cNvPr>
          <p:cNvSpPr>
            <a:spLocks xmlns:a="http://schemas.openxmlformats.org/drawingml/2006/main" noGrp="1"/>
          </p:cNvSpPr>
          <p:nvPr/>
        </p:nvSpPr>
        <p:spPr>
          <a:xfrm xmlns:a="http://schemas.openxmlformats.org/drawingml/2006/main">
            <a:off x="5771616" y="456307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0.998</a:t>
            </a:r>
          </a:p>
        </p:txBody>
      </p:sp>
      <p:sp>
        <p:nvSpPr>
          <p:cNvPr id="36" name="Content Placeholder 9">
            <a:extLst xmlns:a="http://schemas.openxmlformats.org/drawingml/2006/main">
              <a:ext uri="{FF2B5EF4-FFF2-40B4-BE49-F238E27FC236}">
                <a16:creationId xmlns:a16="http://schemas.microsoft.com/office/drawing/2014/main" id="{C48CB7DC-F282-1D69-FD55-0B1565AB0418}"/>
              </a:ext>
            </a:extLst>
          </p:cNvPr>
          <p:cNvSpPr>
            <a:spLocks xmlns:a="http://schemas.openxmlformats.org/drawingml/2006/main" noGrp="1"/>
          </p:cNvSpPr>
          <p:nvPr/>
        </p:nvSpPr>
        <p:spPr>
          <a:xfrm xmlns:a="http://schemas.openxmlformats.org/drawingml/2006/main">
            <a:off x="5863056" y="546682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600">
                <a:solidFill>
                  <a:prstClr val="black"/>
                </a:solidFill>
                <a:latin typeface="Helvetica Neue"/>
                <a:ea typeface="Helvetica Neue"/>
                <a:cs typeface="Helvetica Neue"/>
              </a:rPr>
              <a:t>US AQI R²</a:t>
            </a:r>
          </a:p>
        </p:txBody>
      </p:sp>
      <p:sp>
        <p:nvSpPr>
          <p:cNvPr id="4" name="Rounded Rectangle 3">
            <a:extLst xmlns:a="http://schemas.openxmlformats.org/drawingml/2006/main">
              <a:ext uri="{FF2B5EF4-FFF2-40B4-BE49-F238E27FC236}">
                <a16:creationId xmlns:a16="http://schemas.microsoft.com/office/drawing/2014/main" id="{BD5FE77B-90E1-5236-3990-7079CE78B791}"/>
              </a:ext>
            </a:extLst>
          </p:cNvPr>
          <p:cNvSpPr>
            <a:spLocks xmlns:a="http://schemas.openxmlformats.org/drawingml/2006/main" noGrp="1"/>
          </p:cNvSpPr>
          <p:nvPr/>
        </p:nvSpPr>
        <p:spPr>
          <a:xfrm xmlns:a="http://schemas.openxmlformats.org/drawingml/2006/main">
            <a:off x="393700" y="2241550"/>
            <a:ext cx="2334563" cy="1882398"/>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ounded Rectangle 4">
            <a:extLst xmlns:a="http://schemas.openxmlformats.org/drawingml/2006/main">
              <a:ext uri="{FF2B5EF4-FFF2-40B4-BE49-F238E27FC236}">
                <a16:creationId xmlns:a16="http://schemas.microsoft.com/office/drawing/2014/main" id="{60C351F7-AC2A-1B40-78B5-13B90FA91BEA}"/>
              </a:ext>
            </a:extLst>
          </p:cNvPr>
          <p:cNvSpPr>
            <a:spLocks xmlns:a="http://schemas.openxmlformats.org/drawingml/2006/main" noGrp="1"/>
          </p:cNvSpPr>
          <p:nvPr/>
        </p:nvSpPr>
        <p:spPr>
          <a:xfrm xmlns:a="http://schemas.openxmlformats.org/drawingml/2006/main">
            <a:off x="2968634" y="2241550"/>
            <a:ext cx="2334563" cy="1882398"/>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11CEE641-9418-21DE-A949-29DF25A0EFFD}"/>
              </a:ext>
            </a:extLst>
          </p:cNvPr>
          <p:cNvSpPr>
            <a:spLocks xmlns:a="http://schemas.openxmlformats.org/drawingml/2006/main" noGrp="1"/>
          </p:cNvSpPr>
          <p:nvPr/>
        </p:nvSpPr>
        <p:spPr>
          <a:xfrm xmlns:a="http://schemas.openxmlformats.org/drawingml/2006/main">
            <a:off x="5543569" y="2241550"/>
            <a:ext cx="2334563" cy="1882398"/>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Content Placeholder 9">
            <a:extLst xmlns:a="http://schemas.openxmlformats.org/drawingml/2006/main">
              <a:ext uri="{FF2B5EF4-FFF2-40B4-BE49-F238E27FC236}">
                <a16:creationId xmlns:a16="http://schemas.microsoft.com/office/drawing/2014/main" id="{C27408C0-0932-3E46-A6F1-86E2F1C7E1EB}"/>
              </a:ext>
            </a:extLst>
          </p:cNvPr>
          <p:cNvSpPr>
            <a:spLocks xmlns:a="http://schemas.openxmlformats.org/drawingml/2006/main" noGrp="1"/>
          </p:cNvSpPr>
          <p:nvPr/>
        </p:nvSpPr>
        <p:spPr>
          <a:xfrm xmlns:a="http://schemas.openxmlformats.org/drawingml/2006/main">
            <a:off x="565150" y="244852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1.578</a:t>
            </a:r>
          </a:p>
        </p:txBody>
      </p:sp>
      <p:sp>
        <p:nvSpPr>
          <p:cNvPr id="9" name="Content Placeholder 9">
            <a:extLst xmlns:a="http://schemas.openxmlformats.org/drawingml/2006/main">
              <a:ext uri="{FF2B5EF4-FFF2-40B4-BE49-F238E27FC236}">
                <a16:creationId xmlns:a16="http://schemas.microsoft.com/office/drawing/2014/main" id="{56E44BE8-FC97-2F06-AD91-3DEB9C1337DC}"/>
              </a:ext>
            </a:extLst>
          </p:cNvPr>
          <p:cNvSpPr>
            <a:spLocks xmlns:a="http://schemas.openxmlformats.org/drawingml/2006/main" noGrp="1"/>
          </p:cNvSpPr>
          <p:nvPr/>
        </p:nvSpPr>
        <p:spPr>
          <a:xfrm xmlns:a="http://schemas.openxmlformats.org/drawingml/2006/main">
            <a:off x="656590" y="335227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600">
                <a:solidFill>
                  <a:prstClr val="black"/>
                </a:solidFill>
                <a:latin typeface="Helvetica Neue"/>
                <a:ea typeface="Helvetica Neue"/>
                <a:cs typeface="Helvetica Neue"/>
              </a:rPr>
              <a:t>Speed MAE (km/h)</a:t>
            </a:r>
          </a:p>
        </p:txBody>
      </p:sp>
      <p:sp>
        <p:nvSpPr>
          <p:cNvPr id="10" name="Content Placeholder 9">
            <a:extLst xmlns:a="http://schemas.openxmlformats.org/drawingml/2006/main">
              <a:ext uri="{FF2B5EF4-FFF2-40B4-BE49-F238E27FC236}">
                <a16:creationId xmlns:a16="http://schemas.microsoft.com/office/drawing/2014/main" id="{DF499E89-5132-2D79-D060-7F883BF46606}"/>
              </a:ext>
            </a:extLst>
          </p:cNvPr>
          <p:cNvSpPr>
            <a:spLocks xmlns:a="http://schemas.openxmlformats.org/drawingml/2006/main" noGrp="1"/>
          </p:cNvSpPr>
          <p:nvPr/>
        </p:nvSpPr>
        <p:spPr>
          <a:xfrm xmlns:a="http://schemas.openxmlformats.org/drawingml/2006/main">
            <a:off x="3172795" y="244852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0.968</a:t>
            </a:r>
          </a:p>
        </p:txBody>
      </p:sp>
      <p:sp>
        <p:nvSpPr>
          <p:cNvPr id="11" name="Content Placeholder 9">
            <a:extLst xmlns:a="http://schemas.openxmlformats.org/drawingml/2006/main">
              <a:ext uri="{FF2B5EF4-FFF2-40B4-BE49-F238E27FC236}">
                <a16:creationId xmlns:a16="http://schemas.microsoft.com/office/drawing/2014/main" id="{5C3FD83C-7E51-3532-0CC5-3111AC378682}"/>
              </a:ext>
            </a:extLst>
          </p:cNvPr>
          <p:cNvSpPr>
            <a:spLocks xmlns:a="http://schemas.openxmlformats.org/drawingml/2006/main" noGrp="1"/>
          </p:cNvSpPr>
          <p:nvPr/>
        </p:nvSpPr>
        <p:spPr>
          <a:xfrm xmlns:a="http://schemas.openxmlformats.org/drawingml/2006/main">
            <a:off x="3264235" y="335227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600">
                <a:solidFill>
                  <a:prstClr val="black"/>
                </a:solidFill>
                <a:latin typeface="Helvetica Neue"/>
                <a:ea typeface="Helvetica Neue"/>
                <a:cs typeface="Helvetica Neue"/>
              </a:rPr>
              <a:t>Speed R²</a:t>
            </a:r>
          </a:p>
        </p:txBody>
      </p:sp>
      <p:sp>
        <p:nvSpPr>
          <p:cNvPr id="12" name="Content Placeholder 9">
            <a:extLst xmlns:a="http://schemas.openxmlformats.org/drawingml/2006/main">
              <a:ext uri="{FF2B5EF4-FFF2-40B4-BE49-F238E27FC236}">
                <a16:creationId xmlns:a16="http://schemas.microsoft.com/office/drawing/2014/main" id="{69C6FF59-91B0-A266-F811-6C509F30CF4B}"/>
              </a:ext>
            </a:extLst>
          </p:cNvPr>
          <p:cNvSpPr>
            <a:spLocks xmlns:a="http://schemas.openxmlformats.org/drawingml/2006/main" noGrp="1"/>
          </p:cNvSpPr>
          <p:nvPr/>
        </p:nvSpPr>
        <p:spPr>
          <a:xfrm xmlns:a="http://schemas.openxmlformats.org/drawingml/2006/main">
            <a:off x="5771616" y="2448528"/>
            <a:ext cx="1612900" cy="903750"/>
          </a:xfrm>
          <a:prstGeom xmlns:a="http://schemas.openxmlformats.org/drawingml/2006/main" prst="rect">
            <a:avLst/>
          </a:prstGeom>
        </p:spPr>
        <p:txBody>
          <a:bodyPr xmlns:a="http://schemas.openxmlformats.org/drawingml/2006/main" vert="horz" lIns="0" tIns="0" rIns="0" bIns="0" anchor="b">
            <a:normAutofit fontScale="91001"/>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0.0279</a:t>
            </a:r>
          </a:p>
        </p:txBody>
      </p:sp>
      <p:sp>
        <p:nvSpPr>
          <p:cNvPr id="13" name="Content Placeholder 9">
            <a:extLst xmlns:a="http://schemas.openxmlformats.org/drawingml/2006/main">
              <a:ext uri="{FF2B5EF4-FFF2-40B4-BE49-F238E27FC236}">
                <a16:creationId xmlns:a16="http://schemas.microsoft.com/office/drawing/2014/main" id="{CB933D0C-0148-034A-E964-ED7F56E5FB68}"/>
              </a:ext>
            </a:extLst>
          </p:cNvPr>
          <p:cNvSpPr>
            <a:spLocks xmlns:a="http://schemas.openxmlformats.org/drawingml/2006/main" noGrp="1"/>
          </p:cNvSpPr>
          <p:nvPr/>
        </p:nvSpPr>
        <p:spPr>
          <a:xfrm xmlns:a="http://schemas.openxmlformats.org/drawingml/2006/main">
            <a:off x="5863056" y="335227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600">
                <a:solidFill>
                  <a:prstClr val="black"/>
                </a:solidFill>
                <a:latin typeface="Helvetica Neue"/>
                <a:ea typeface="Helvetica Neue"/>
                <a:cs typeface="Helvetica Neue"/>
              </a:rPr>
              <a:t>Density MAE</a:t>
            </a:r>
          </a:p>
        </p:txBody>
      </p:sp>
    </p:spTree>
    <p:extLst>
      <p:ext uri="{BB962C8B-B14F-4D97-AF65-F5344CB8AC3E}">
        <p14:creationId xmlns:p14="http://schemas.microsoft.com/office/powerpoint/2010/main" val="85501997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D38D868-3ADE-676B-438C-29D7611110BD}"/>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88657AE-30A1-5A7A-6A7F-315D84436430}" type="slidenum">
              <a:t>9</a:t>
            </a:fld>
          </a:p>
        </p:txBody>
      </p:sp>
      <p:sp>
        <p:nvSpPr>
          <p:cNvPr id="11" name="Title 10">
            <a:extLst xmlns:a="http://schemas.openxmlformats.org/drawingml/2006/main">
              <a:ext uri="{FF2B5EF4-FFF2-40B4-BE49-F238E27FC236}">
                <a16:creationId xmlns:a16="http://schemas.microsoft.com/office/drawing/2014/main" id="{378F6A60-947D-E6BF-D14C-3BCF6C2DA59B}"/>
              </a:ext>
            </a:extLst>
          </p:cNvPr>
          <p:cNvSpPr>
            <a:spLocks xmlns:a="http://schemas.openxmlformats.org/drawingml/2006/main" noGrp="1"/>
          </p:cNvSpPr>
          <p:nvPr>
            <p:ph type="title" idx="0"/>
          </p:nvPr>
        </p:nvSpPr>
        <p:spPr>
          <a:xfrm xmlns:a="http://schemas.openxmlformats.org/drawingml/2006/main">
            <a:off x="393700" y="344008"/>
            <a:ext cx="5534180" cy="1047491"/>
          </a:xfrm>
        </p:spPr>
        <p:txBody>
          <a:bodyPr xmlns:a="http://schemas.openxmlformats.org/drawingml/2006/main"/>
          <a:lstStyle xmlns:a="http://schemas.openxmlformats.org/drawingml/2006/main"/>
          <a:p xmlns:a="http://schemas.openxmlformats.org/drawingml/2006/main">
            <a:r>
              <a:t>Model đánh bại persistence baseline</a:t>
            </a:r>
          </a:p>
        </p:txBody>
      </p:sp>
      <p:sp>
        <p:nvSpPr>
          <p:cNvPr id="38" name="Content Placeholder 9">
            <a:extLst xmlns:a="http://schemas.openxmlformats.org/drawingml/2006/main">
              <a:ext uri="{FF2B5EF4-FFF2-40B4-BE49-F238E27FC236}">
                <a16:creationId xmlns:a16="http://schemas.microsoft.com/office/drawing/2014/main" id="{F46924B0-E252-6F41-AEF6-707576EEC644}"/>
              </a:ext>
            </a:extLst>
          </p:cNvPr>
          <p:cNvSpPr>
            <a:spLocks xmlns:a="http://schemas.openxmlformats.org/drawingml/2006/main" noGrp="1"/>
          </p:cNvSpPr>
          <p:nvPr/>
        </p:nvSpPr>
        <p:spPr>
          <a:xfrm xmlns:a="http://schemas.openxmlformats.org/drawingml/2006/main">
            <a:off x="6467774" y="407234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59.1%</a:t>
            </a:r>
          </a:p>
        </p:txBody>
      </p:sp>
      <p:sp>
        <p:nvSpPr>
          <p:cNvPr id="39" name="Content Placeholder 15">
            <a:extLst xmlns:a="http://schemas.openxmlformats.org/drawingml/2006/main">
              <a:ext uri="{FF2B5EF4-FFF2-40B4-BE49-F238E27FC236}">
                <a16:creationId xmlns:a16="http://schemas.microsoft.com/office/drawing/2014/main" id="{56FBCDC5-76EC-145C-18F3-9CE37FE482F2}"/>
              </a:ext>
            </a:extLst>
          </p:cNvPr>
          <p:cNvSpPr>
            <a:spLocks xmlns:a="http://schemas.openxmlformats.org/drawingml/2006/main" noGrp="1"/>
          </p:cNvSpPr>
          <p:nvPr/>
        </p:nvSpPr>
        <p:spPr>
          <a:xfrm xmlns:a="http://schemas.openxmlformats.org/drawingml/2006/main">
            <a:off x="6534392"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MAE reduction</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Traffic density</a:t>
            </a:r>
          </a:p>
        </p:txBody>
      </p:sp>
      <p:sp>
        <p:nvSpPr>
          <p:cNvPr id="41" name="Content Placeholder 9">
            <a:extLst xmlns:a="http://schemas.openxmlformats.org/drawingml/2006/main">
              <a:ext uri="{FF2B5EF4-FFF2-40B4-BE49-F238E27FC236}">
                <a16:creationId xmlns:a16="http://schemas.microsoft.com/office/drawing/2014/main" id="{8F99D628-85E5-7316-AD95-3EE427B94930}"/>
              </a:ext>
            </a:extLst>
          </p:cNvPr>
          <p:cNvSpPr>
            <a:spLocks xmlns:a="http://schemas.openxmlformats.org/drawingml/2006/main" noGrp="1"/>
          </p:cNvSpPr>
          <p:nvPr/>
        </p:nvSpPr>
        <p:spPr>
          <a:xfrm xmlns:a="http://schemas.openxmlformats.org/drawingml/2006/main">
            <a:off x="9419979" y="407234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52.1%</a:t>
            </a:r>
          </a:p>
        </p:txBody>
      </p:sp>
      <p:sp>
        <p:nvSpPr>
          <p:cNvPr id="42" name="Content Placeholder 15">
            <a:extLst xmlns:a="http://schemas.openxmlformats.org/drawingml/2006/main">
              <a:ext uri="{FF2B5EF4-FFF2-40B4-BE49-F238E27FC236}">
                <a16:creationId xmlns:a16="http://schemas.microsoft.com/office/drawing/2014/main" id="{BB7D59C4-643D-649E-C83F-B879BFF2F6D6}"/>
              </a:ext>
            </a:extLst>
          </p:cNvPr>
          <p:cNvSpPr>
            <a:spLocks xmlns:a="http://schemas.openxmlformats.org/drawingml/2006/main" noGrp="1"/>
          </p:cNvSpPr>
          <p:nvPr/>
        </p:nvSpPr>
        <p:spPr>
          <a:xfrm xmlns:a="http://schemas.openxmlformats.org/drawingml/2006/main">
            <a:off x="9486597"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MAE reduction</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Current speed</a:t>
            </a:r>
          </a:p>
        </p:txBody>
      </p:sp>
      <p:sp>
        <p:nvSpPr>
          <p:cNvPr id="2" name="Rounded Rectangle 1">
            <a:extLst xmlns:a="http://schemas.openxmlformats.org/drawingml/2006/main">
              <a:ext uri="{FF2B5EF4-FFF2-40B4-BE49-F238E27FC236}">
                <a16:creationId xmlns:a16="http://schemas.microsoft.com/office/drawing/2014/main" id="{CE63CD2B-5701-6476-A7B4-22B60FFEE8F7}"/>
              </a:ext>
            </a:extLst>
          </p:cNvPr>
          <p:cNvSpPr>
            <a:spLocks xmlns:a="http://schemas.openxmlformats.org/drawingml/2006/main" noGrp="1"/>
          </p:cNvSpPr>
          <p:nvPr/>
        </p:nvSpPr>
        <p:spPr>
          <a:xfrm xmlns:a="http://schemas.openxmlformats.org/drawingml/2006/main">
            <a:off x="393700" y="1041400"/>
            <a:ext cx="5526315" cy="5435072"/>
          </a:xfrm>
          <a:prstGeom xmlns:a="http://schemas.openxmlformats.org/drawingml/2006/main" prst="roundRect">
            <a:avLst>
              <a:gd name="adj" fmla="val 2804"/>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186CDAE5-C90E-598F-EF23-9C2405AA2294}"/>
              </a:ext>
            </a:extLst>
          </p:cNvPr>
          <p:cNvSpPr>
            <a:spLocks xmlns:a="http://schemas.openxmlformats.org/drawingml/2006/main" noGrp="1"/>
          </p:cNvSpPr>
          <p:nvPr/>
        </p:nvSpPr>
        <p:spPr>
          <a:xfrm xmlns:a="http://schemas.openxmlformats.org/drawingml/2006/main">
            <a:off x="6261100" y="4356100"/>
            <a:ext cx="67129" cy="1152071"/>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C00D826E-5909-476F-F491-0FBCE01C3C78}"/>
              </a:ext>
            </a:extLst>
          </p:cNvPr>
          <p:cNvSpPr>
            <a:spLocks xmlns:a="http://schemas.openxmlformats.org/drawingml/2006/main" noGrp="1"/>
          </p:cNvSpPr>
          <p:nvPr/>
        </p:nvSpPr>
        <p:spPr>
          <a:xfrm xmlns:a="http://schemas.openxmlformats.org/drawingml/2006/main">
            <a:off x="9207500" y="4356100"/>
            <a:ext cx="67129" cy="1152071"/>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tent Placeholder 1">
            <a:extLst xmlns:a="http://schemas.openxmlformats.org/drawingml/2006/main">
              <a:ext uri="{FF2B5EF4-FFF2-40B4-BE49-F238E27FC236}">
                <a16:creationId xmlns:a16="http://schemas.microsoft.com/office/drawing/2014/main" id="{D234CE49-8AE1-9C3B-D7C5-6240A6EF3958}"/>
              </a:ext>
            </a:extLst>
          </p:cNvPr>
          <p:cNvSpPr>
            <a:spLocks xmlns:a="http://schemas.openxmlformats.org/drawingml/2006/main" noGrp="1"/>
          </p:cNvSpPr>
          <p:nvPr/>
        </p:nvSpPr>
        <p:spPr>
          <a:xfrm xmlns:a="http://schemas.openxmlformats.org/drawingml/2006/main">
            <a:off x="6261100" y="1709230"/>
            <a:ext cx="5292194" cy="1614066"/>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prstClr val="black"/>
                </a:solidFill>
                <a:latin typeface="Helvetica Neue"/>
                <a:ea typeface="Helvetica Neue"/>
                <a:cs typeface="Helvetica Neue"/>
              </a:rPr>
              <a:t>NORMALIZED MAE INDEX</a:t>
            </a:r>
          </a:p>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Baseline được đặt bằng 100. Model giảm hơn 50% MAE cho cả ba target so với cách đơn giản là giữ nguyên giá trị của giờ hiện tại.</a:t>
            </a:r>
          </a:p>
        </p:txBody>
      </p:sp>
      <p:graphicFrame>
        <p:nvGraphicFramePr>
          <p:cNvPr id="54" name="Chart 6"/>
          <p:cNvGraphicFramePr/>
          <p:nvPr/>
        </p:nvGraphicFramePr>
        <p:xfrm>
          <a:off xmlns:a="http://schemas.openxmlformats.org/drawingml/2006/main" x="638705" y="1254716"/>
          <a:ext xmlns:a="http://schemas.openxmlformats.org/drawingml/2006/main" cx="5124182" cy="5024578"/>
        </p:xfrm>
        <a:graphic xmlns:a="http://schemas.openxmlformats.org/drawingml/2006/main">
          <a:graphicData uri="http://schemas.openxmlformats.org/drawingml/2006/chart">
            <c:chart xmlns:r="http://schemas.openxmlformats.org/officeDocument/2006/relationships" xmlns:c="http://schemas.openxmlformats.org/drawingml/2006/chart" r:id="R95a6e8dcca3b406d"/>
          </a:graphicData>
        </a:graphic>
      </p:graphicFrame>
    </p:spTree>
    <p:extLst>
      <p:ext uri="{BB962C8B-B14F-4D97-AF65-F5344CB8AC3E}">
        <p14:creationId xmlns:p14="http://schemas.microsoft.com/office/powerpoint/2010/main" val="766153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D38D868-3ADE-676B-438C-29D7611110BD}"/>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DB7BEEEC-A170-5376-2B6E-CB54687B0CB1}" type="slidenum">
              <a:t>10</a:t>
            </a:fld>
          </a:p>
        </p:txBody>
      </p:sp>
      <p:sp>
        <p:nvSpPr>
          <p:cNvPr id="11" name="Title 10">
            <a:extLst xmlns:a="http://schemas.openxmlformats.org/drawingml/2006/main">
              <a:ext uri="{FF2B5EF4-FFF2-40B4-BE49-F238E27FC236}">
                <a16:creationId xmlns:a16="http://schemas.microsoft.com/office/drawing/2014/main" id="{378F6A60-947D-E6BF-D14C-3BCF6C2DA59B}"/>
              </a:ext>
            </a:extLst>
          </p:cNvPr>
          <p:cNvSpPr>
            <a:spLocks xmlns:a="http://schemas.openxmlformats.org/drawingml/2006/main" noGrp="1"/>
          </p:cNvSpPr>
          <p:nvPr>
            <p:ph type="title" idx="0"/>
          </p:nvPr>
        </p:nvSpPr>
        <p:spPr>
          <a:xfrm xmlns:a="http://schemas.openxmlformats.org/drawingml/2006/main">
            <a:off x="393700" y="344008"/>
            <a:ext cx="5534180" cy="1047491"/>
          </a:xfrm>
        </p:spPr>
        <p:txBody>
          <a:bodyPr xmlns:a="http://schemas.openxmlformats.org/drawingml/2006/main"/>
          <a:lstStyle xmlns:a="http://schemas.openxmlformats.org/drawingml/2006/main"/>
          <a:p xmlns:a="http://schemas.openxmlformats.org/drawingml/2006/main">
            <a:r>
              <a:t>Điều gì đang drive dự đoán?</a:t>
            </a:r>
          </a:p>
        </p:txBody>
      </p:sp>
      <p:sp>
        <p:nvSpPr>
          <p:cNvPr id="38" name="Content Placeholder 9">
            <a:extLst xmlns:a="http://schemas.openxmlformats.org/drawingml/2006/main">
              <a:ext uri="{FF2B5EF4-FFF2-40B4-BE49-F238E27FC236}">
                <a16:creationId xmlns:a16="http://schemas.microsoft.com/office/drawing/2014/main" id="{F46924B0-E252-6F41-AEF6-707576EEC644}"/>
              </a:ext>
            </a:extLst>
          </p:cNvPr>
          <p:cNvSpPr>
            <a:spLocks xmlns:a="http://schemas.openxmlformats.org/drawingml/2006/main" noGrp="1"/>
          </p:cNvSpPr>
          <p:nvPr/>
        </p:nvSpPr>
        <p:spPr>
          <a:xfrm xmlns:a="http://schemas.openxmlformats.org/drawingml/2006/main">
            <a:off x="6467774" y="407234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1H</a:t>
            </a:r>
          </a:p>
        </p:txBody>
      </p:sp>
      <p:sp>
        <p:nvSpPr>
          <p:cNvPr id="39" name="Content Placeholder 15">
            <a:extLst xmlns:a="http://schemas.openxmlformats.org/drawingml/2006/main">
              <a:ext uri="{FF2B5EF4-FFF2-40B4-BE49-F238E27FC236}">
                <a16:creationId xmlns:a16="http://schemas.microsoft.com/office/drawing/2014/main" id="{56FBCDC5-76EC-145C-18F3-9CE37FE482F2}"/>
              </a:ext>
            </a:extLst>
          </p:cNvPr>
          <p:cNvSpPr>
            <a:spLocks xmlns:a="http://schemas.openxmlformats.org/drawingml/2006/main" noGrp="1"/>
          </p:cNvSpPr>
          <p:nvPr/>
        </p:nvSpPr>
        <p:spPr>
          <a:xfrm xmlns:a="http://schemas.openxmlformats.org/drawingml/2006/main">
            <a:off x="6534392"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Recent history</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dominates</a:t>
            </a:r>
          </a:p>
        </p:txBody>
      </p:sp>
      <p:sp>
        <p:nvSpPr>
          <p:cNvPr id="41" name="Content Placeholder 9">
            <a:extLst xmlns:a="http://schemas.openxmlformats.org/drawingml/2006/main">
              <a:ext uri="{FF2B5EF4-FFF2-40B4-BE49-F238E27FC236}">
                <a16:creationId xmlns:a16="http://schemas.microsoft.com/office/drawing/2014/main" id="{8F99D628-85E5-7316-AD95-3EE427B94930}"/>
              </a:ext>
            </a:extLst>
          </p:cNvPr>
          <p:cNvSpPr>
            <a:spLocks xmlns:a="http://schemas.openxmlformats.org/drawingml/2006/main" noGrp="1"/>
          </p:cNvSpPr>
          <p:nvPr/>
        </p:nvSpPr>
        <p:spPr>
          <a:xfrm xmlns:a="http://schemas.openxmlformats.org/drawingml/2006/main">
            <a:off x="9419979" y="407234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3H</a:t>
            </a:r>
          </a:p>
        </p:txBody>
      </p:sp>
      <p:sp>
        <p:nvSpPr>
          <p:cNvPr id="42" name="Content Placeholder 15">
            <a:extLst xmlns:a="http://schemas.openxmlformats.org/drawingml/2006/main">
              <a:ext uri="{FF2B5EF4-FFF2-40B4-BE49-F238E27FC236}">
                <a16:creationId xmlns:a16="http://schemas.microsoft.com/office/drawing/2014/main" id="{BB7D59C4-643D-649E-C83F-B879BFF2F6D6}"/>
              </a:ext>
            </a:extLst>
          </p:cNvPr>
          <p:cNvSpPr>
            <a:spLocks xmlns:a="http://schemas.openxmlformats.org/drawingml/2006/main" noGrp="1"/>
          </p:cNvSpPr>
          <p:nvPr/>
        </p:nvSpPr>
        <p:spPr>
          <a:xfrm xmlns:a="http://schemas.openxmlformats.org/drawingml/2006/main">
            <a:off x="9486597"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Rolling signal</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adds stability</a:t>
            </a:r>
          </a:p>
        </p:txBody>
      </p:sp>
      <p:sp>
        <p:nvSpPr>
          <p:cNvPr id="2" name="Rounded Rectangle 1">
            <a:extLst xmlns:a="http://schemas.openxmlformats.org/drawingml/2006/main">
              <a:ext uri="{FF2B5EF4-FFF2-40B4-BE49-F238E27FC236}">
                <a16:creationId xmlns:a16="http://schemas.microsoft.com/office/drawing/2014/main" id="{CE63CD2B-5701-6476-A7B4-22B60FFEE8F7}"/>
              </a:ext>
            </a:extLst>
          </p:cNvPr>
          <p:cNvSpPr>
            <a:spLocks xmlns:a="http://schemas.openxmlformats.org/drawingml/2006/main" noGrp="1"/>
          </p:cNvSpPr>
          <p:nvPr/>
        </p:nvSpPr>
        <p:spPr>
          <a:xfrm xmlns:a="http://schemas.openxmlformats.org/drawingml/2006/main">
            <a:off x="393700" y="1041400"/>
            <a:ext cx="5526315" cy="5435072"/>
          </a:xfrm>
          <a:prstGeom xmlns:a="http://schemas.openxmlformats.org/drawingml/2006/main" prst="roundRect">
            <a:avLst>
              <a:gd name="adj" fmla="val 2804"/>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186CDAE5-C90E-598F-EF23-9C2405AA2294}"/>
              </a:ext>
            </a:extLst>
          </p:cNvPr>
          <p:cNvSpPr>
            <a:spLocks xmlns:a="http://schemas.openxmlformats.org/drawingml/2006/main" noGrp="1"/>
          </p:cNvSpPr>
          <p:nvPr/>
        </p:nvSpPr>
        <p:spPr>
          <a:xfrm xmlns:a="http://schemas.openxmlformats.org/drawingml/2006/main">
            <a:off x="6261100" y="4356100"/>
            <a:ext cx="67129" cy="1152071"/>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C00D826E-5909-476F-F491-0FBCE01C3C78}"/>
              </a:ext>
            </a:extLst>
          </p:cNvPr>
          <p:cNvSpPr>
            <a:spLocks xmlns:a="http://schemas.openxmlformats.org/drawingml/2006/main" noGrp="1"/>
          </p:cNvSpPr>
          <p:nvPr/>
        </p:nvSpPr>
        <p:spPr>
          <a:xfrm xmlns:a="http://schemas.openxmlformats.org/drawingml/2006/main">
            <a:off x="9207500" y="4356100"/>
            <a:ext cx="67129" cy="1152071"/>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tent Placeholder 1">
            <a:extLst xmlns:a="http://schemas.openxmlformats.org/drawingml/2006/main">
              <a:ext uri="{FF2B5EF4-FFF2-40B4-BE49-F238E27FC236}">
                <a16:creationId xmlns:a16="http://schemas.microsoft.com/office/drawing/2014/main" id="{D234CE49-8AE1-9C3B-D7C5-6240A6EF3958}"/>
              </a:ext>
            </a:extLst>
          </p:cNvPr>
          <p:cNvSpPr>
            <a:spLocks xmlns:a="http://schemas.openxmlformats.org/drawingml/2006/main" noGrp="1"/>
          </p:cNvSpPr>
          <p:nvPr/>
        </p:nvSpPr>
        <p:spPr>
          <a:xfrm xmlns:a="http://schemas.openxmlformats.org/drawingml/2006/main">
            <a:off x="6261100" y="1709230"/>
            <a:ext cx="5292194" cy="1614066"/>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prstClr val="black"/>
                </a:solidFill>
                <a:latin typeface="Helvetica Neue"/>
                <a:ea typeface="Helvetica Neue"/>
                <a:cs typeface="Helvetica Neue"/>
              </a:rPr>
              <a:t>GAIN NORMALIZED BY TARGET</a:t>
            </a:r>
          </a:p>
          <a:p xmlns:a="http://schemas.openxmlformats.org/drawingml/2006/main">
            <a:pPr marL="0" indent="0">
              <a:lnSpc>
                <a:spcPct val="114000"/>
              </a:lnSpc>
              <a:spcBef>
                <a:spcPts val="0"/>
              </a:spcBef>
              <a:spcAft>
                <a:spcPts val="800"/>
              </a:spcAft>
              <a:buNone/>
            </a:pPr>
            <a:r>
              <a:rPr sz="1600">
                <a:solidFill>
                  <a:prstClr val="black"/>
                </a:solidFill>
                <a:latin typeface="Helvetica Neue"/>
                <a:ea typeface="Helvetica Neue"/>
                <a:cs typeface="Helvetica Neue"/>
              </a:rPr>
              <a:t>Short-term continuity là tín hiệu mạnh nhất. Weather và calendar tinh chỉnh dự báo; chúng không thay thế được lịch sử traffic/AQI gần nhất.</a:t>
            </a:r>
          </a:p>
        </p:txBody>
      </p:sp>
      <p:graphicFrame>
        <p:nvGraphicFramePr>
          <p:cNvPr id="54" name="Chart 6"/>
          <p:cNvGraphicFramePr/>
          <p:nvPr/>
        </p:nvGraphicFramePr>
        <p:xfrm>
          <a:off xmlns:a="http://schemas.openxmlformats.org/drawingml/2006/main" x="638705" y="1254716"/>
          <a:ext xmlns:a="http://schemas.openxmlformats.org/drawingml/2006/main" cx="5124182" cy="5024578"/>
        </p:xfrm>
        <a:graphic xmlns:a="http://schemas.openxmlformats.org/drawingml/2006/main">
          <a:graphicData uri="http://schemas.openxmlformats.org/drawingml/2006/chart">
            <c:chart xmlns:r="http://schemas.openxmlformats.org/officeDocument/2006/relationships" xmlns:c="http://schemas.openxmlformats.org/drawingml/2006/chart" r:id="R3c9eb632878842d3"/>
          </a:graphicData>
        </a:graphic>
      </p:graphicFrame>
    </p:spTree>
    <p:extLst>
      <p:ext uri="{BB962C8B-B14F-4D97-AF65-F5344CB8AC3E}">
        <p14:creationId xmlns:p14="http://schemas.microsoft.com/office/powerpoint/2010/main" val="766153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30394428-F1DC-E5F6-DB0C-7DE31F3D8A23}" type="slidenum">
              <a:t>11</a:t>
            </a:fld>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Error analysis: vì sao model có thể sai?</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025321"/>
            <a:ext cx="5533887" cy="132080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274205"/>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600">
                <a:solidFill>
                  <a:prstClr val="black"/>
                </a:solidFill>
                <a:latin typeface="Helvetica Neue"/>
                <a:ea typeface="Helvetica Neue"/>
                <a:cs typeface="Helvetica Neue"/>
              </a:rPr>
              <a:t>LONG-HORIZON FAILURE</a:t>
            </a:r>
          </a:p>
          <a:p xmlns:a="http://schemas.openxmlformats.org/drawingml/2006/main">
            <a:pPr marL="0" indent="0">
              <a:lnSpc>
                <a:spcPct val="110000"/>
              </a:lnSpc>
              <a:spcBef>
                <a:spcPts val="0"/>
              </a:spcBef>
              <a:buNone/>
            </a:pPr>
            <a:r>
              <a:rPr sz="1600">
                <a:solidFill>
                  <a:prstClr val="black"/>
                </a:solidFill>
                <a:latin typeface="Helvetica Neue"/>
                <a:ea typeface="Helvetica Neue"/>
                <a:cs typeface="Helvetica Neue"/>
              </a:rPr>
              <a:t>Weather-only Jan/2026 HCM</a:t>
            </a:r>
          </a:p>
          <a:p xmlns:a="http://schemas.openxmlformats.org/drawingml/2006/main">
            <a:pPr marL="0" indent="0">
              <a:lnSpc>
                <a:spcPct val="110000"/>
              </a:lnSpc>
              <a:spcBef>
                <a:spcPts val="0"/>
              </a:spcBef>
              <a:buNone/>
            </a:pPr>
            <a:r>
              <a:rPr sz="1600">
                <a:solidFill>
                  <a:prstClr val="black"/>
                </a:solidFill>
                <a:latin typeface="Helvetica Neue"/>
                <a:ea typeface="Helvetica Neue"/>
                <a:cs typeface="Helvetica Neue"/>
              </a:rPr>
              <a:t>MAE 16.79 · R² 0.113</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514850"/>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spcAft>
                <a:spcPts val="800"/>
              </a:spcAft>
              <a:buNone/>
              <a:defRPr sz="1600">
                <a:solidFill>
                  <a:schemeClr val="tx1"/>
                </a:solidFill>
                <a:latin typeface="+mn-lt"/>
                <a:ea typeface="+mn-lt"/>
                <a:cs typeface="+mn-lt"/>
              </a:defRPr>
            </a:lvl1pPr>
            <a:lvl2pPr marL="457200" indent="0" algn="l">
              <a:lnSpc>
                <a:spcPct val="90000"/>
              </a:lnSpc>
              <a:spcBef>
                <a:spcPts val="500"/>
              </a:spcBef>
              <a:spcAft>
                <a:spcPts val="800"/>
              </a:spcAft>
              <a:buNone/>
              <a:defRPr sz="1600">
                <a:solidFill>
                  <a:schemeClr val="tx1"/>
                </a:solidFill>
                <a:latin typeface="+mn-lt"/>
                <a:ea typeface="+mn-lt"/>
                <a:cs typeface="+mn-lt"/>
              </a:defRPr>
            </a:lvl2pPr>
            <a:lvl3pPr marL="914400" indent="0" algn="l">
              <a:lnSpc>
                <a:spcPct val="90000"/>
              </a:lnSpc>
              <a:spcBef>
                <a:spcPts val="500"/>
              </a:spcBef>
              <a:spcAft>
                <a:spcPts val="800"/>
              </a:spcAft>
              <a:buNone/>
              <a:defRPr sz="1600">
                <a:solidFill>
                  <a:schemeClr val="tx1"/>
                </a:solidFill>
                <a:latin typeface="+mn-lt"/>
                <a:ea typeface="+mn-lt"/>
                <a:cs typeface="+mn-lt"/>
              </a:defRPr>
            </a:lvl3pPr>
            <a:lvl4pPr marL="1371600" indent="0" algn="l">
              <a:lnSpc>
                <a:spcPct val="90000"/>
              </a:lnSpc>
              <a:spcBef>
                <a:spcPts val="500"/>
              </a:spcBef>
              <a:spcAft>
                <a:spcPts val="800"/>
              </a:spcAft>
              <a:buNone/>
              <a:defRPr sz="1600">
                <a:solidFill>
                  <a:schemeClr val="tx1"/>
                </a:solidFill>
                <a:latin typeface="+mn-lt"/>
                <a:ea typeface="+mn-lt"/>
                <a:cs typeface="+mn-lt"/>
              </a:defRPr>
            </a:lvl4pPr>
            <a:lvl5pPr marL="1828800" indent="0" algn="l">
              <a:lnSpc>
                <a:spcPct val="90000"/>
              </a:lnSpc>
              <a:spcBef>
                <a:spcPts val="500"/>
              </a:spcBef>
              <a:spcAft>
                <a:spcPts val="800"/>
              </a:spcAft>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28600" indent="-228600">
              <a:lnSpc>
                <a:spcPct val="114000"/>
              </a:lnSpc>
              <a:spcBef>
                <a:spcPts val="0"/>
              </a:spcBef>
              <a:spcAft>
                <a:spcPts val="600"/>
              </a:spcAft>
              <a:buChar char="•"/>
            </a:pPr>
            <a:r>
              <a:rPr sz="1400">
                <a:solidFill>
                  <a:prstClr val="black"/>
                </a:solidFill>
                <a:latin typeface="Helvetica Neue"/>
                <a:ea typeface="Helvetica Neue"/>
                <a:cs typeface="Helvetica Neue"/>
              </a:rPr>
              <a:t>Cần Giờ: actual 203</a:t>
            </a:r>
          </a:p>
          <a:p xmlns:a="http://schemas.openxmlformats.org/drawingml/2006/main">
            <a:pPr marL="228600" indent="-228600">
              <a:lnSpc>
                <a:spcPct val="114000"/>
              </a:lnSpc>
              <a:spcBef>
                <a:spcPts val="0"/>
              </a:spcBef>
              <a:spcAft>
                <a:spcPts val="600"/>
              </a:spcAft>
              <a:buChar char="•"/>
            </a:pPr>
            <a:r>
              <a:rPr sz="1400">
                <a:solidFill>
                  <a:prstClr val="black"/>
                </a:solidFill>
                <a:latin typeface="Helvetica Neue"/>
                <a:ea typeface="Helvetica Neue"/>
                <a:cs typeface="Helvetica Neue"/>
              </a:rPr>
              <a:t>predicted 87</a:t>
            </a:r>
          </a:p>
          <a:p xmlns:a="http://schemas.openxmlformats.org/drawingml/2006/main">
            <a:pPr marL="228600" indent="-228600">
              <a:lnSpc>
                <a:spcPct val="114000"/>
              </a:lnSpc>
              <a:spcBef>
                <a:spcPts val="0"/>
              </a:spcBef>
              <a:spcAft>
                <a:spcPts val="600"/>
              </a:spcAft>
              <a:buChar char="•"/>
            </a:pPr>
            <a:r>
              <a:rPr sz="1400">
                <a:solidFill>
                  <a:prstClr val="black"/>
                </a:solidFill>
                <a:latin typeface="Helvetica Neue"/>
                <a:ea typeface="Helvetica Neue"/>
                <a:cs typeface="Helvetica Neue"/>
              </a:rPr>
              <a:t>04 Jan · 22:00</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025321"/>
            <a:ext cx="5533887" cy="132080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274205"/>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600">
                <a:solidFill>
                  <a:prstClr val="black"/>
                </a:solidFill>
                <a:latin typeface="Helvetica Neue"/>
                <a:ea typeface="Helvetica Neue"/>
                <a:cs typeface="Helvetica Neue"/>
              </a:rPr>
              <a:t>DATA LIMITATIONS</a:t>
            </a:r>
          </a:p>
          <a:p xmlns:a="http://schemas.openxmlformats.org/drawingml/2006/main">
            <a:pPr marL="0" indent="0">
              <a:lnSpc>
                <a:spcPct val="110000"/>
              </a:lnSpc>
              <a:spcBef>
                <a:spcPts val="0"/>
              </a:spcBef>
              <a:buNone/>
            </a:pPr>
            <a:r>
              <a:rPr sz="1600">
                <a:solidFill>
                  <a:prstClr val="black"/>
                </a:solidFill>
                <a:latin typeface="Helvetica Neue"/>
                <a:ea typeface="Helvetica Neue"/>
                <a:cs typeface="Helvetica Neue"/>
              </a:rPr>
              <a:t>CAMS modeled AQI</a:t>
            </a:r>
          </a:p>
          <a:p xmlns:a="http://schemas.openxmlformats.org/drawingml/2006/main">
            <a:pPr marL="0" indent="0">
              <a:lnSpc>
                <a:spcPct val="110000"/>
              </a:lnSpc>
              <a:spcBef>
                <a:spcPts val="0"/>
              </a:spcBef>
              <a:buNone/>
            </a:pPr>
            <a:r>
              <a:rPr sz="1600">
                <a:solidFill>
                  <a:prstClr val="black"/>
                </a:solidFill>
                <a:latin typeface="Helvetica Neue"/>
                <a:ea typeface="Helvetica Neue"/>
                <a:cs typeface="Helvetica Neue"/>
              </a:rPr>
              <a:t>1 HCM weather series / 5 provinces</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514850"/>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spcAft>
                <a:spcPts val="800"/>
              </a:spcAft>
              <a:buNone/>
              <a:defRPr sz="1600">
                <a:solidFill>
                  <a:schemeClr val="tx1"/>
                </a:solidFill>
                <a:latin typeface="+mn-lt"/>
                <a:ea typeface="+mn-lt"/>
                <a:cs typeface="+mn-lt"/>
              </a:defRPr>
            </a:lvl1pPr>
            <a:lvl2pPr marL="457200" indent="0" algn="l">
              <a:lnSpc>
                <a:spcPct val="90000"/>
              </a:lnSpc>
              <a:spcBef>
                <a:spcPts val="500"/>
              </a:spcBef>
              <a:spcAft>
                <a:spcPts val="800"/>
              </a:spcAft>
              <a:buNone/>
              <a:defRPr sz="1600">
                <a:solidFill>
                  <a:schemeClr val="tx1"/>
                </a:solidFill>
                <a:latin typeface="+mn-lt"/>
                <a:ea typeface="+mn-lt"/>
                <a:cs typeface="+mn-lt"/>
              </a:defRPr>
            </a:lvl2pPr>
            <a:lvl3pPr marL="914400" indent="0" algn="l">
              <a:lnSpc>
                <a:spcPct val="90000"/>
              </a:lnSpc>
              <a:spcBef>
                <a:spcPts val="500"/>
              </a:spcBef>
              <a:spcAft>
                <a:spcPts val="800"/>
              </a:spcAft>
              <a:buNone/>
              <a:defRPr sz="1600">
                <a:solidFill>
                  <a:schemeClr val="tx1"/>
                </a:solidFill>
                <a:latin typeface="+mn-lt"/>
                <a:ea typeface="+mn-lt"/>
                <a:cs typeface="+mn-lt"/>
              </a:defRPr>
            </a:lvl3pPr>
            <a:lvl4pPr marL="1371600" indent="0" algn="l">
              <a:lnSpc>
                <a:spcPct val="90000"/>
              </a:lnSpc>
              <a:spcBef>
                <a:spcPts val="500"/>
              </a:spcBef>
              <a:spcAft>
                <a:spcPts val="800"/>
              </a:spcAft>
              <a:buNone/>
              <a:defRPr sz="1600">
                <a:solidFill>
                  <a:schemeClr val="tx1"/>
                </a:solidFill>
                <a:latin typeface="+mn-lt"/>
                <a:ea typeface="+mn-lt"/>
                <a:cs typeface="+mn-lt"/>
              </a:defRPr>
            </a:lvl4pPr>
            <a:lvl5pPr marL="1828800" indent="0" algn="l">
              <a:lnSpc>
                <a:spcPct val="90000"/>
              </a:lnSpc>
              <a:spcBef>
                <a:spcPts val="500"/>
              </a:spcBef>
              <a:spcAft>
                <a:spcPts val="800"/>
              </a:spcAft>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28600" indent="-228600">
              <a:lnSpc>
                <a:spcPct val="114000"/>
              </a:lnSpc>
              <a:spcBef>
                <a:spcPts val="0"/>
              </a:spcBef>
              <a:spcAft>
                <a:spcPts val="600"/>
              </a:spcAft>
              <a:buChar char="•"/>
            </a:pPr>
            <a:r>
              <a:rPr sz="1400">
                <a:solidFill>
                  <a:prstClr val="black"/>
                </a:solidFill>
                <a:latin typeface="Helvetica Neue"/>
                <a:ea typeface="Helvetica Neue"/>
                <a:cs typeface="Helvetica Neue"/>
              </a:rPr>
              <a:t>TomTom live: 62/65</a:t>
            </a:r>
          </a:p>
          <a:p xmlns:a="http://schemas.openxmlformats.org/drawingml/2006/main">
            <a:pPr marL="228600" indent="-228600">
              <a:lnSpc>
                <a:spcPct val="114000"/>
              </a:lnSpc>
              <a:spcBef>
                <a:spcPts val="0"/>
              </a:spcBef>
              <a:spcAft>
                <a:spcPts val="600"/>
              </a:spcAft>
              <a:buChar char="•"/>
            </a:pPr>
            <a:r>
              <a:rPr sz="1400">
                <a:solidFill>
                  <a:prstClr val="black"/>
                </a:solidFill>
                <a:latin typeface="Helvetica Neue"/>
                <a:ea typeface="Helvetica Neue"/>
                <a:cs typeface="Helvetica Neue"/>
              </a:rPr>
              <a:t>High hourly R² ≠</a:t>
            </a:r>
          </a:p>
          <a:p xmlns:a="http://schemas.openxmlformats.org/drawingml/2006/main">
            <a:pPr marL="228600" indent="-228600">
              <a:lnSpc>
                <a:spcPct val="114000"/>
              </a:lnSpc>
              <a:spcBef>
                <a:spcPts val="0"/>
              </a:spcBef>
              <a:spcAft>
                <a:spcPts val="600"/>
              </a:spcAft>
              <a:buChar char="•"/>
            </a:pPr>
            <a:r>
              <a:rPr sz="1400">
                <a:solidFill>
                  <a:prstClr val="black"/>
                </a:solidFill>
                <a:latin typeface="Helvetica Neue"/>
                <a:ea typeface="Helvetica Neue"/>
                <a:cs typeface="Helvetica Neue"/>
              </a:rPr>
              <a:t>health-grade accuracy</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spcAft>
                <a:spcPts val="800"/>
              </a:spcAft>
              <a:buNone/>
              <a:defRPr sz="1600">
                <a:solidFill>
                  <a:schemeClr val="tx1"/>
                </a:solidFill>
                <a:latin typeface="+mn-lt"/>
                <a:ea typeface="+mn-lt"/>
                <a:cs typeface="+mn-lt"/>
              </a:defRPr>
            </a:lvl1pPr>
            <a:lvl2pPr marL="457200" indent="0" algn="l">
              <a:lnSpc>
                <a:spcPct val="90000"/>
              </a:lnSpc>
              <a:spcBef>
                <a:spcPts val="500"/>
              </a:spcBef>
              <a:spcAft>
                <a:spcPts val="800"/>
              </a:spcAft>
              <a:buNone/>
              <a:defRPr sz="1600">
                <a:solidFill>
                  <a:schemeClr val="tx1"/>
                </a:solidFill>
                <a:latin typeface="+mn-lt"/>
                <a:ea typeface="+mn-lt"/>
                <a:cs typeface="+mn-lt"/>
              </a:defRPr>
            </a:lvl2pPr>
            <a:lvl3pPr marL="914400" indent="0" algn="l">
              <a:lnSpc>
                <a:spcPct val="90000"/>
              </a:lnSpc>
              <a:spcBef>
                <a:spcPts val="500"/>
              </a:spcBef>
              <a:spcAft>
                <a:spcPts val="800"/>
              </a:spcAft>
              <a:buNone/>
              <a:defRPr sz="1600">
                <a:solidFill>
                  <a:schemeClr val="tx1"/>
                </a:solidFill>
                <a:latin typeface="+mn-lt"/>
                <a:ea typeface="+mn-lt"/>
                <a:cs typeface="+mn-lt"/>
              </a:defRPr>
            </a:lvl3pPr>
            <a:lvl4pPr marL="1371600" indent="0" algn="l">
              <a:lnSpc>
                <a:spcPct val="90000"/>
              </a:lnSpc>
              <a:spcBef>
                <a:spcPts val="500"/>
              </a:spcBef>
              <a:spcAft>
                <a:spcPts val="800"/>
              </a:spcAft>
              <a:buNone/>
              <a:defRPr sz="1600">
                <a:solidFill>
                  <a:schemeClr val="tx1"/>
                </a:solidFill>
                <a:latin typeface="+mn-lt"/>
                <a:ea typeface="+mn-lt"/>
                <a:cs typeface="+mn-lt"/>
              </a:defRPr>
            </a:lvl4pPr>
            <a:lvl5pPr marL="1828800" indent="0" algn="l">
              <a:lnSpc>
                <a:spcPct val="90000"/>
              </a:lnSpc>
              <a:spcBef>
                <a:spcPts val="500"/>
              </a:spcBef>
              <a:spcAft>
                <a:spcPts val="800"/>
              </a:spcAft>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solidFill>
                  <a:prstClr val="black"/>
                </a:solidFill>
                <a:latin typeface="Helvetica Neue Medium"/>
                <a:ea typeface="Helvetica Neue Medium"/>
                <a:cs typeface="Helvetica Neue Medium"/>
              </a:rPr>
              <a:t>DATA SCIENTIST CONCLUSION</a:t>
            </a:r>
          </a:p>
          <a:p xmlns:a="http://schemas.openxmlformats.org/drawingml/2006/main">
            <a:pPr>
              <a:lnSpc>
                <a:spcPct val="114000"/>
              </a:lnSpc>
              <a:spcBef>
                <a:spcPts val="0"/>
              </a:spcBef>
              <a:spcAft>
                <a:spcPts val="600"/>
              </a:spcAft>
              <a:buNone/>
            </a:pPr>
            <a:r>
              <a:rPr>
                <a:solidFill>
                  <a:prstClr val="black"/>
                </a:solidFill>
                <a:latin typeface="Helvetica Neue"/>
                <a:ea typeface="Helvetica Neue"/>
                <a:cs typeface="Helvetica Neue"/>
              </a:rPr>
              <a:t>Model phù hợp để dự báo xu hướng vận hành trước 1 giờ, nhưng chưa đủ bằng chứng cho cảnh báo sức khỏe cộng đồng.</a:t>
            </a:r>
          </a:p>
        </p:txBody>
      </p:sp>
      <p:sp>
        <p:nvSpPr>
          <p:cNvPr id="26" name="Content Placeholder 15">
            <a:extLst xmlns:a="http://schemas.openxmlformats.org/drawingml/2006/main">
              <a:ext uri="{FF2B5EF4-FFF2-40B4-BE49-F238E27FC236}">
                <a16:creationId xmlns:a16="http://schemas.microsoft.com/office/drawing/2014/main" id="{E7F409CA-A992-D5A3-DF49-49CFA53E418B}"/>
              </a:ext>
            </a:extLst>
          </p:cNvPr>
          <p:cNvSpPr>
            <a:spLocks xmlns:a="http://schemas.openxmlformats.org/drawingml/2006/main" noGrp="1"/>
          </p:cNvSpPr>
          <p:nvPr/>
        </p:nvSpPr>
        <p:spPr>
          <a:xfrm xmlns:a="http://schemas.openxmlformats.org/drawingml/2006/main">
            <a:off x="400939" y="5617936"/>
            <a:ext cx="11404599" cy="529823"/>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spcAft>
                <a:spcPts val="800"/>
              </a:spcAft>
              <a:buNone/>
              <a:defRPr sz="1600">
                <a:solidFill>
                  <a:schemeClr val="tx1"/>
                </a:solidFill>
                <a:latin typeface="+mn-lt"/>
                <a:ea typeface="+mn-lt"/>
                <a:cs typeface="+mn-lt"/>
              </a:defRPr>
            </a:lvl1pPr>
            <a:lvl2pPr marL="457200" indent="0" algn="l">
              <a:lnSpc>
                <a:spcPct val="90000"/>
              </a:lnSpc>
              <a:spcBef>
                <a:spcPts val="500"/>
              </a:spcBef>
              <a:spcAft>
                <a:spcPts val="800"/>
              </a:spcAft>
              <a:buNone/>
              <a:defRPr sz="1600">
                <a:solidFill>
                  <a:schemeClr val="tx1"/>
                </a:solidFill>
                <a:latin typeface="+mn-lt"/>
                <a:ea typeface="+mn-lt"/>
                <a:cs typeface="+mn-lt"/>
              </a:defRPr>
            </a:lvl2pPr>
            <a:lvl3pPr marL="914400" indent="0" algn="l">
              <a:lnSpc>
                <a:spcPct val="90000"/>
              </a:lnSpc>
              <a:spcBef>
                <a:spcPts val="500"/>
              </a:spcBef>
              <a:spcAft>
                <a:spcPts val="800"/>
              </a:spcAft>
              <a:buNone/>
              <a:defRPr sz="1600">
                <a:solidFill>
                  <a:schemeClr val="tx1"/>
                </a:solidFill>
                <a:latin typeface="+mn-lt"/>
                <a:ea typeface="+mn-lt"/>
                <a:cs typeface="+mn-lt"/>
              </a:defRPr>
            </a:lvl3pPr>
            <a:lvl4pPr marL="1371600" indent="0" algn="l">
              <a:lnSpc>
                <a:spcPct val="90000"/>
              </a:lnSpc>
              <a:spcBef>
                <a:spcPts val="500"/>
              </a:spcBef>
              <a:spcAft>
                <a:spcPts val="800"/>
              </a:spcAft>
              <a:buNone/>
              <a:defRPr sz="1600">
                <a:solidFill>
                  <a:schemeClr val="tx1"/>
                </a:solidFill>
                <a:latin typeface="+mn-lt"/>
                <a:ea typeface="+mn-lt"/>
                <a:cs typeface="+mn-lt"/>
              </a:defRPr>
            </a:lvl4pPr>
            <a:lvl5pPr marL="1828800" indent="0" algn="l">
              <a:lnSpc>
                <a:spcPct val="90000"/>
              </a:lnSpc>
              <a:spcBef>
                <a:spcPts val="500"/>
              </a:spcBef>
              <a:spcAft>
                <a:spcPts val="800"/>
              </a:spcAft>
              <a:buNone/>
              <a:defRPr sz="16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a:solidFill>
                  <a:prstClr val="black"/>
                </a:solidFill>
                <a:latin typeface="Helvetica Neue"/>
                <a:ea typeface="Helvetica Neue"/>
                <a:cs typeface="Helvetica Neue"/>
              </a:rPr>
              <a:t>Priority risk</a:t>
            </a:r>
          </a:p>
          <a:p xmlns:a="http://schemas.openxmlformats.org/drawingml/2006/main">
            <a:pPr>
              <a:lnSpc>
                <a:spcPct val="114000"/>
              </a:lnSpc>
              <a:spcBef>
                <a:spcPts val="0"/>
              </a:spcBef>
              <a:spcAft>
                <a:spcPts val="600"/>
              </a:spcAft>
              <a:buNone/>
            </a:pPr>
            <a:r>
              <a:rPr>
                <a:solidFill>
                  <a:prstClr val="black"/>
                </a:solidFill>
                <a:latin typeface="Helvetica Neue"/>
                <a:ea typeface="Helvetica Neue"/>
                <a:cs typeface="Helvetica Neue"/>
              </a:rPr>
              <a:t>Xác minh provenance timestamp của historical TomTom và theo dõi drift sau khi chạy live.</a:t>
            </a:r>
          </a:p>
        </p:txBody>
      </p:sp>
    </p:spTree>
    <p:extLst>
      <p:ext uri="{BB962C8B-B14F-4D97-AF65-F5344CB8AC3E}">
        <p14:creationId xmlns:p14="http://schemas.microsoft.com/office/powerpoint/2010/main" val="34624586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Rounded Rectangle 3">
            <a:extLst xmlns:a="http://schemas.openxmlformats.org/drawingml/2006/main">
              <a:ext uri="{FF2B5EF4-FFF2-40B4-BE49-F238E27FC236}">
                <a16:creationId xmlns:a16="http://schemas.microsoft.com/office/drawing/2014/main" id="{399D28F4-0533-71C4-6121-D7C1CF725D88}"/>
              </a:ext>
            </a:extLst>
          </p:cNvPr>
          <p:cNvSpPr>
            <a:spLocks xmlns:a="http://schemas.openxmlformats.org/drawingml/2006/main" noGrp="1"/>
          </p:cNvSpPr>
          <p:nvPr/>
        </p:nvSpPr>
        <p:spPr>
          <a:xfrm xmlns:a="http://schemas.openxmlformats.org/drawingml/2006/main">
            <a:off x="5930900" y="393700"/>
            <a:ext cx="5867400" cy="16383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ounded Rectangle 4">
            <a:extLst xmlns:a="http://schemas.openxmlformats.org/drawingml/2006/main">
              <a:ext uri="{FF2B5EF4-FFF2-40B4-BE49-F238E27FC236}">
                <a16:creationId xmlns:a16="http://schemas.microsoft.com/office/drawing/2014/main" id="{3B220E5B-9AD4-0A77-D081-8DD6CEDEDE55}"/>
              </a:ext>
            </a:extLst>
          </p:cNvPr>
          <p:cNvSpPr>
            <a:spLocks xmlns:a="http://schemas.openxmlformats.org/drawingml/2006/main" noGrp="1"/>
          </p:cNvSpPr>
          <p:nvPr/>
        </p:nvSpPr>
        <p:spPr>
          <a:xfrm xmlns:a="http://schemas.openxmlformats.org/drawingml/2006/main">
            <a:off x="5930900" y="2369856"/>
            <a:ext cx="5867400" cy="16383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ounded Rectangle 5">
            <a:extLst xmlns:a="http://schemas.openxmlformats.org/drawingml/2006/main">
              <a:ext uri="{FF2B5EF4-FFF2-40B4-BE49-F238E27FC236}">
                <a16:creationId xmlns:a16="http://schemas.microsoft.com/office/drawing/2014/main" id="{8015B47D-C18B-C33D-B6B9-8B12C7F21DA3}"/>
              </a:ext>
            </a:extLst>
          </p:cNvPr>
          <p:cNvSpPr>
            <a:spLocks xmlns:a="http://schemas.openxmlformats.org/drawingml/2006/main" noGrp="1"/>
          </p:cNvSpPr>
          <p:nvPr/>
        </p:nvSpPr>
        <p:spPr>
          <a:xfrm xmlns:a="http://schemas.openxmlformats.org/drawingml/2006/main">
            <a:off x="5930900" y="4356100"/>
            <a:ext cx="5867400" cy="16383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lide Number Placeholder 1">
            <a:extLst xmlns:a="http://schemas.openxmlformats.org/drawingml/2006/main">
              <a:ext uri="{FF2B5EF4-FFF2-40B4-BE49-F238E27FC236}">
                <a16:creationId xmlns:a16="http://schemas.microsoft.com/office/drawing/2014/main" id="{C70AE1A9-6BFA-C8F8-15D8-E0C474C9873F}"/>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DB16885-0D3F-A391-B669-3211DB3B26E8}" type="slidenum">
              <a:t>12</a:t>
            </a:fld>
          </a:p>
        </p:txBody>
      </p:sp>
      <p:sp>
        <p:nvSpPr>
          <p:cNvPr id="3" name="Title 2">
            <a:extLst xmlns:a="http://schemas.openxmlformats.org/drawingml/2006/main">
              <a:ext uri="{FF2B5EF4-FFF2-40B4-BE49-F238E27FC236}">
                <a16:creationId xmlns:a16="http://schemas.microsoft.com/office/drawing/2014/main" id="{B98E6F4A-D901-EDDD-8055-85C5D5B5077A}"/>
              </a:ext>
            </a:extLst>
          </p:cNvPr>
          <p:cNvSpPr>
            <a:spLocks xmlns:a="http://schemas.openxmlformats.org/drawingml/2006/main" noGrp="1"/>
          </p:cNvSpPr>
          <p:nvPr>
            <p:ph type="title" idx="0"/>
          </p:nvPr>
        </p:nvSpPr>
        <p:spPr>
          <a:xfrm xmlns:a="http://schemas.openxmlformats.org/drawingml/2006/main">
            <a:off x="393701" y="344008"/>
            <a:ext cx="4928108" cy="1047491"/>
          </a:xfrm>
        </p:spPr>
        <p:txBody>
          <a:bodyPr xmlns:a="http://schemas.openxmlformats.org/drawingml/2006/main"/>
          <a:lstStyle xmlns:a="http://schemas.openxmlformats.org/drawingml/2006/main"/>
          <a:p xmlns:a="http://schemas.openxmlformats.org/drawingml/2006/main">
            <a:r>
              <a:t>Improvements implemented in Week 6</a:t>
            </a:r>
          </a:p>
        </p:txBody>
      </p:sp>
      <p:sp>
        <p:nvSpPr>
          <p:cNvPr id="11" name="Content Placeholder 10">
            <a:extLst xmlns:a="http://schemas.openxmlformats.org/drawingml/2006/main">
              <a:ext uri="{FF2B5EF4-FFF2-40B4-BE49-F238E27FC236}">
                <a16:creationId xmlns:a16="http://schemas.microsoft.com/office/drawing/2014/main" id="{32851832-A61E-C0E6-B2C4-DAC1BEA62DF8}"/>
              </a:ext>
            </a:extLst>
          </p:cNvPr>
          <p:cNvSpPr>
            <a:spLocks xmlns:a="http://schemas.openxmlformats.org/drawingml/2006/main" noGrp="1"/>
          </p:cNvSpPr>
          <p:nvPr>
            <p:ph idx="4294967295"/>
          </p:nvPr>
        </p:nvSpPr>
        <p:spPr>
          <a:xfrm xmlns:a="http://schemas.openxmlformats.org/drawingml/2006/main">
            <a:off x="6261100" y="672952"/>
            <a:ext cx="5287433" cy="1079796"/>
          </a:xfrm>
        </p:spPr>
        <p:txBody>
          <a:bodyPr xmlns:a="http://schemas.openxmlformats.org/drawingml/2006/main">
            <a:normAutofit fontScale="57980"/>
          </a:bodyPr>
          <a:lstStyle xmlns:a="http://schemas.openxmlformats.org/drawingml/2006/main"/>
          <a:p xmlns:a="http://schemas.openxmlformats.org/drawingml/2006/main">
            <a:pPr marL="0" indent="0" algn="l">
              <a:lnSpc>
                <a:spcPct val="110000"/>
              </a:lnSpc>
              <a:spcBef>
                <a:spcPts val="0"/>
              </a:spcBef>
              <a:spcAft>
                <a:spcPts val="0"/>
              </a:spcAft>
              <a:buNone/>
            </a:pPr>
            <a:r>
              <a:rPr sz="1800" b="0" i="0" u="none" cap="none">
                <a:ln>
                  <a:noFill/>
                </a:ln>
                <a:solidFill>
                  <a:prstClr val="black"/>
                </a:solidFill>
                <a:latin typeface="Helvetica Neue"/>
                <a:ea typeface="Helvetica Neue"/>
                <a:cs typeface="Helvetica Neue"/>
              </a:rPr>
              <a:t>ALGORITHM</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HistGradient → XGBoost</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AQI next-day R²: 0.423 → 0.561</a:t>
            </a:r>
          </a:p>
        </p:txBody>
      </p:sp>
      <p:sp>
        <p:nvSpPr>
          <p:cNvPr id="8" name="Content Placeholder 10">
            <a:extLst xmlns:a="http://schemas.openxmlformats.org/drawingml/2006/main">
              <a:ext uri="{FF2B5EF4-FFF2-40B4-BE49-F238E27FC236}">
                <a16:creationId xmlns:a16="http://schemas.microsoft.com/office/drawing/2014/main" id="{81492ACB-99F1-D37C-A4AB-B658921013CF}"/>
              </a:ext>
            </a:extLst>
          </p:cNvPr>
          <p:cNvSpPr>
            <a:spLocks xmlns:a="http://schemas.openxmlformats.org/drawingml/2006/main" noGrp="1"/>
          </p:cNvSpPr>
          <p:nvPr/>
        </p:nvSpPr>
        <p:spPr>
          <a:xfrm xmlns:a="http://schemas.openxmlformats.org/drawingml/2006/main">
            <a:off x="6261100" y="2664788"/>
            <a:ext cx="5287433" cy="1048436"/>
          </a:xfrm>
          <a:prstGeom xmlns:a="http://schemas.openxmlformats.org/drawingml/2006/main" prst="rect">
            <a:avLst/>
          </a:prstGeom>
        </p:spPr>
        <p:txBody>
          <a:bodyPr xmlns:a="http://schemas.openxmlformats.org/drawingml/2006/main" vert="horz" lIns="0" tIns="0" rIns="0" bIns="0">
            <a:normAutofit fontScale="65045"/>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800">
                <a:solidFill>
                  <a:prstClr val="black"/>
                </a:solidFill>
                <a:latin typeface="Helvetica Neue"/>
                <a:ea typeface="Helvetica Neue"/>
                <a:cs typeface="Helvetica Neue"/>
              </a:rPr>
              <a:t>FEATURES</a:t>
            </a:r>
          </a:p>
          <a:p xmlns:a="http://schemas.openxmlformats.org/drawingml/2006/main">
            <a:pPr marL="0" indent="0">
              <a:lnSpc>
                <a:spcPct val="100000"/>
              </a:lnSpc>
              <a:spcBef>
                <a:spcPts val="1300"/>
              </a:spcBef>
              <a:spcAft>
                <a:spcPts val="1300"/>
              </a:spcAft>
              <a:buNone/>
            </a:pPr>
            <a:r>
              <a:rPr sz="1800">
                <a:solidFill>
                  <a:prstClr val="black"/>
                </a:solidFill>
                <a:latin typeface="Helvetica Neue"/>
                <a:ea typeface="Helvetica Neue"/>
                <a:cs typeface="Helvetica Neue"/>
              </a:rPr>
              <a:t>Weather + traffic + AQI</a:t>
            </a:r>
          </a:p>
          <a:p xmlns:a="http://schemas.openxmlformats.org/drawingml/2006/main">
            <a:pPr marL="0" indent="0">
              <a:lnSpc>
                <a:spcPct val="100000"/>
              </a:lnSpc>
              <a:spcBef>
                <a:spcPts val="1300"/>
              </a:spcBef>
              <a:spcAft>
                <a:spcPts val="1300"/>
              </a:spcAft>
              <a:buNone/>
            </a:pPr>
            <a:r>
              <a:rPr sz="1800">
                <a:solidFill>
                  <a:prstClr val="black"/>
                </a:solidFill>
                <a:latin typeface="Helvetica Neue"/>
                <a:ea typeface="Helvetica Neue"/>
                <a:cs typeface="Helvetica Neue"/>
              </a:rPr>
              <a:t>Lag/rolling + leakage control</a:t>
            </a:r>
          </a:p>
        </p:txBody>
      </p:sp>
      <p:sp>
        <p:nvSpPr>
          <p:cNvPr id="9" name="Content Placeholder 10">
            <a:extLst xmlns:a="http://schemas.openxmlformats.org/drawingml/2006/main">
              <a:ext uri="{FF2B5EF4-FFF2-40B4-BE49-F238E27FC236}">
                <a16:creationId xmlns:a16="http://schemas.microsoft.com/office/drawing/2014/main" id="{EE244A58-AA3E-6549-238A-E0B6EB985242}"/>
              </a:ext>
            </a:extLst>
          </p:cNvPr>
          <p:cNvSpPr>
            <a:spLocks xmlns:a="http://schemas.openxmlformats.org/drawingml/2006/main" noGrp="1"/>
          </p:cNvSpPr>
          <p:nvPr/>
        </p:nvSpPr>
        <p:spPr>
          <a:xfrm xmlns:a="http://schemas.openxmlformats.org/drawingml/2006/main">
            <a:off x="6261100" y="4656290"/>
            <a:ext cx="5287433" cy="1037920"/>
          </a:xfrm>
          <a:prstGeom xmlns:a="http://schemas.openxmlformats.org/drawingml/2006/main" prst="rect">
            <a:avLst/>
          </a:prstGeom>
        </p:spPr>
        <p:txBody>
          <a:bodyPr xmlns:a="http://schemas.openxmlformats.org/drawingml/2006/main" vert="horz" lIns="0" tIns="0" rIns="0" bIns="0">
            <a:normAutofit fontScale="63808"/>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0000"/>
              </a:lnSpc>
              <a:spcBef>
                <a:spcPts val="0"/>
              </a:spcBef>
              <a:buNone/>
            </a:pPr>
            <a:r>
              <a:rPr sz="1800">
                <a:solidFill>
                  <a:prstClr val="black"/>
                </a:solidFill>
                <a:latin typeface="Helvetica Neue"/>
                <a:ea typeface="Helvetica Neue"/>
                <a:cs typeface="Helvetica Neue"/>
              </a:rPr>
              <a:t>OPERATING WINDOW</a:t>
            </a:r>
          </a:p>
          <a:p xmlns:a="http://schemas.openxmlformats.org/drawingml/2006/main">
            <a:pPr marL="0" indent="0">
              <a:lnSpc>
                <a:spcPct val="100000"/>
              </a:lnSpc>
              <a:spcBef>
                <a:spcPts val="1300"/>
              </a:spcBef>
              <a:spcAft>
                <a:spcPts val="1300"/>
              </a:spcAft>
              <a:buNone/>
            </a:pPr>
            <a:r>
              <a:rPr sz="1800">
                <a:solidFill>
                  <a:prstClr val="black"/>
                </a:solidFill>
                <a:latin typeface="Helvetica Neue"/>
                <a:ea typeface="Helvetica Neue"/>
                <a:cs typeface="Helvetica Neue"/>
              </a:rPr>
              <a:t>12 giờ lịch sử → 1 giờ ahead</a:t>
            </a:r>
          </a:p>
          <a:p xmlns:a="http://schemas.openxmlformats.org/drawingml/2006/main">
            <a:pPr marL="0" indent="0">
              <a:lnSpc>
                <a:spcPct val="100000"/>
              </a:lnSpc>
              <a:spcBef>
                <a:spcPts val="1300"/>
              </a:spcBef>
              <a:spcAft>
                <a:spcPts val="1300"/>
              </a:spcAft>
              <a:buNone/>
            </a:pPr>
            <a:r>
              <a:rPr sz="1800">
                <a:solidFill>
                  <a:prstClr val="black"/>
                </a:solidFill>
                <a:latin typeface="Helvetica Neue"/>
                <a:ea typeface="Helvetica Neue"/>
                <a:cs typeface="Helvetica Neue"/>
              </a:rPr>
              <a:t>Giảm warm-up cho live prediction</a:t>
            </a:r>
          </a:p>
        </p:txBody>
      </p:sp>
    </p:spTree>
    <p:extLst>
      <p:ext uri="{BB962C8B-B14F-4D97-AF65-F5344CB8AC3E}">
        <p14:creationId xmlns:p14="http://schemas.microsoft.com/office/powerpoint/2010/main" val="46562663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58" name="Google Shape;558;p61">
            <a:extLst xmlns:a="http://schemas.openxmlformats.org/drawingml/2006/main">
              <a:ext uri="{FF2B5EF4-FFF2-40B4-BE49-F238E27FC236}">
                <a16:creationId xmlns:a16="http://schemas.microsoft.com/office/drawing/2014/main" id="{0BC3820C-5D4F-468A-AB5C-2CD0121B7172}"/>
              </a:ext>
            </a:extLst>
          </p:cNvPr>
          <p:cNvSpPr>
            <a:spLocks xmlns:a="http://schemas.openxmlformats.org/drawingml/2006/main" noGrp="1"/>
          </p:cNvSpPr>
          <p:nvPr>
            <p:ph idx="1"/>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t>1. PRESENT EVIDENCE</a:t>
            </a:r>
          </a:p>
          <a:p xmlns:a="http://schemas.openxmlformats.org/drawingml/2006/main">
            <a:pPr marL="0" indent="0">
              <a:spcAft>
                <a:spcPts val="1300"/>
              </a:spcAft>
              <a:buNone/>
            </a:pPr>
            <a:r>
              <a:rPr sz="1900"/>
              <a:t>Metrics, temporal split và baseline comparison.</a:t>
            </a:r>
          </a:p>
        </p:txBody>
      </p:sp>
      <p:sp>
        <p:nvSpPr>
          <p:cNvPr id="556" name="Google Shape;556;p61">
            <a:extLst xmlns:a="http://schemas.openxmlformats.org/drawingml/2006/main">
              <a:ext uri="{FF2B5EF4-FFF2-40B4-BE49-F238E27FC236}">
                <a16:creationId xmlns:a16="http://schemas.microsoft.com/office/drawing/2014/main" id="{A343A8AD-1B8F-43B2-BEC6-CC00DE5CCADB}"/>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2DD23107-4986-8758-3A93-3D74F35908CC}" type="slidenum">
              <a:t>13</a:t>
            </a:fld>
          </a:p>
        </p:txBody>
      </p:sp>
      <p:sp>
        <p:nvSpPr>
          <p:cNvPr id="559" name="Google Shape;559;p61">
            <a:extLst xmlns:a="http://schemas.openxmlformats.org/drawingml/2006/main">
              <a:ext uri="{FF2B5EF4-FFF2-40B4-BE49-F238E27FC236}">
                <a16:creationId xmlns:a16="http://schemas.microsoft.com/office/drawing/2014/main" id="{BD8E63A3-91BD-4089-913C-E1FDA4313AD3}"/>
              </a:ext>
            </a:extLst>
          </p:cNvPr>
          <p:cNvSpPr>
            <a:spLocks xmlns:a="http://schemas.openxmlformats.org/drawingml/2006/main" noGrp="1"/>
          </p:cNvSpPr>
          <p:nvPr>
            <p:ph idx="10"/>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solidFill>
                  <a:schemeClr val="dk1"/>
                </a:solidFill>
              </a:rPr>
              <a:t>2. SHOW LIMITATIONS</a:t>
            </a:r>
          </a:p>
          <a:p xmlns:a="http://schemas.openxmlformats.org/drawingml/2006/main">
            <a:pPr marL="0" indent="0">
              <a:spcAft>
                <a:spcPts val="1300"/>
              </a:spcAft>
              <a:buNone/>
            </a:pPr>
            <a:r>
              <a:rPr sz="1900">
                <a:solidFill>
                  <a:schemeClr val="dk1"/>
                </a:solidFill>
              </a:rPr>
              <a:t>CAMS bias, weather scope và TomTom coverage.</a:t>
            </a:r>
          </a:p>
        </p:txBody>
      </p:sp>
      <p:sp>
        <p:nvSpPr>
          <p:cNvPr id="560" name="Google Shape;560;p61">
            <a:extLst xmlns:a="http://schemas.openxmlformats.org/drawingml/2006/main">
              <a:ext uri="{FF2B5EF4-FFF2-40B4-BE49-F238E27FC236}">
                <a16:creationId xmlns:a16="http://schemas.microsoft.com/office/drawing/2014/main" id="{91D67852-B3FE-49DE-862A-3BEBAF3B0B2A}"/>
              </a:ext>
            </a:extLst>
          </p:cNvPr>
          <p:cNvSpPr>
            <a:spLocks xmlns:a="http://schemas.openxmlformats.org/drawingml/2006/main" noGrp="1"/>
          </p:cNvSpPr>
          <p:nvPr>
            <p:ph idx="11"/>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solidFill>
                  <a:schemeClr val="dk1"/>
                </a:solidFill>
              </a:rPr>
              <a:t>3. NEXT EXPERIMENT</a:t>
            </a:r>
          </a:p>
          <a:p xmlns:a="http://schemas.openxmlformats.org/drawingml/2006/main">
            <a:pPr marL="0" indent="0">
              <a:spcAft>
                <a:spcPts val="1300"/>
              </a:spcAft>
              <a:buNone/>
            </a:pPr>
            <a:r>
              <a:rPr sz="1900">
                <a:solidFill>
                  <a:schemeClr val="dk1"/>
                </a:solidFill>
              </a:rPr>
              <a:t>District weather + station AQI + walk-forward monitoring.</a:t>
            </a:r>
          </a:p>
        </p:txBody>
      </p:sp>
      <p:sp>
        <p:nvSpPr>
          <p:cNvPr id="557" name="Google Shape;557;p61">
            <a:extLst xmlns:a="http://schemas.openxmlformats.org/drawingml/2006/main">
              <a:ext uri="{FF2B5EF4-FFF2-40B4-BE49-F238E27FC236}">
                <a16:creationId xmlns:a16="http://schemas.microsoft.com/office/drawing/2014/main" id="{091A81E5-9470-4DFF-AB9E-B714916AF1C6}"/>
              </a:ext>
            </a:extLst>
          </p:cNvPr>
          <p:cNvSpPr>
            <a:spLocks xmlns:a="http://schemas.openxmlformats.org/drawingml/2006/main" noGrp="1"/>
          </p:cNvSpPr>
          <p:nvPr>
            <p:ph type="title" idx="0"/>
          </p:nvPr>
        </p:nvSpPr>
        <p:spPr>
          <a:xfrm xmlns:a="http://schemas.openxmlformats.org/drawingml/2006/main">
            <a:off x="393668" y="344043"/>
            <a:ext cx="9448800" cy="6858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Recommendation &amp; Week 7 handoff</a:t>
            </a:r>
          </a:p>
        </p:txBody>
      </p:sp>
      <p:sp>
        <p:nvSpPr>
          <p:cNvPr id="561" name="Google Shape;561;p61">
            <a:extLst xmlns:a="http://schemas.openxmlformats.org/drawingml/2006/main">
              <a:ext uri="{FF2B5EF4-FFF2-40B4-BE49-F238E27FC236}">
                <a16:creationId xmlns:a16="http://schemas.microsoft.com/office/drawing/2014/main" id="{4EFF3465-A428-4A06-9ABA-357741A59E84}"/>
              </a:ext>
            </a:extLst>
          </p:cNvPr>
          <p:cNvSpPr>
            <a:spLocks xmlns:a="http://schemas.openxmlformats.org/drawingml/2006/main" noGrp="1"/>
          </p:cNvSpPr>
          <p:nvPr/>
        </p:nvSpPr>
        <p:spPr>
          <a:xfrm xmlns:a="http://schemas.openxmlformats.org/drawingml/2006/main">
            <a:off x="4279904" y="3433102"/>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
        <p:nvSpPr>
          <p:cNvPr id="562" name="Google Shape;562;p61">
            <a:extLst xmlns:a="http://schemas.openxmlformats.org/drawingml/2006/main">
              <a:ext uri="{FF2B5EF4-FFF2-40B4-BE49-F238E27FC236}">
                <a16:creationId xmlns:a16="http://schemas.microsoft.com/office/drawing/2014/main" id="{246388A5-1AF1-4021-A3AF-4C7E997FDA1F}"/>
              </a:ext>
            </a:extLst>
          </p:cNvPr>
          <p:cNvSpPr>
            <a:spLocks xmlns:a="http://schemas.openxmlformats.org/drawingml/2006/main" noGrp="1"/>
          </p:cNvSpPr>
          <p:nvPr/>
        </p:nvSpPr>
        <p:spPr>
          <a:xfrm xmlns:a="http://schemas.openxmlformats.org/drawingml/2006/main">
            <a:off x="333666" y="3429011"/>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
        <p:nvSpPr>
          <p:cNvPr id="563" name="Google Shape;563;p61">
            <a:extLst xmlns:a="http://schemas.openxmlformats.org/drawingml/2006/main">
              <a:ext uri="{FF2B5EF4-FFF2-40B4-BE49-F238E27FC236}">
                <a16:creationId xmlns:a16="http://schemas.microsoft.com/office/drawing/2014/main" id="{6DEAE88D-5DD9-4968-BED9-A6F9317BFBEA}"/>
              </a:ext>
            </a:extLst>
          </p:cNvPr>
          <p:cNvSpPr>
            <a:spLocks xmlns:a="http://schemas.openxmlformats.org/drawingml/2006/main" noGrp="1"/>
          </p:cNvSpPr>
          <p:nvPr/>
        </p:nvSpPr>
        <p:spPr>
          <a:xfrm xmlns:a="http://schemas.openxmlformats.org/drawingml/2006/main">
            <a:off x="8214664" y="3474581"/>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962565404"/>
      </p:ext>
    </p:extLst>
  </p:cSld>
</p:sld>
</file>

<file path=ppt/theme/theme1.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2026-06-22T14:05:18.7920000Z</dcterms:created>
  <dcterms:modified xsi:type="dcterms:W3CDTF">2026-06-22T14:05:18.7920000Z</dcterms:modified>
</coreProperties>
</file>